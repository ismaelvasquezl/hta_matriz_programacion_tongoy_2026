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Horas que sobran o faltan por semana</c:v>
                </c:pt>
              </c:strCache>
            </c:strRef>
          </c:tx>
          <c:spPr>
            <a:solidFill>
              <a:srgbClr val="B3372F"/>
            </a:solidFill>
            <a:effectLst/>
          </c:spPr>
          <c:invertIfNegative val="0"/>
          <c:dLbls>
            <c:numFmt formatCode="#,##0" sourceLinked="0"/>
            <c:txPr>
              <a:bodyPr/>
              <a:lstStyle/>
              <a:p>
                <a:pPr>
                  <a:defRPr b="0" i="0" strike="noStrike" sz="1100" u="none">
                    <a:solidFill>
                      <a:srgbClr val="4A5D64"/>
                    </a:solidFill>
                    <a:latin typeface="Arial"/>
                  </a:defRPr>
                </a:pPr>
              </a:p>
            </c:txPr>
            <c:showLegendKey val="0"/>
            <c:showVal val="1"/>
            <c:showCatName val="0"/>
            <c:showSerName val="0"/>
            <c:showPercent val="0"/>
            <c:showBubbleSize val="0"/>
            <c:showLeaderLines val="0"/>
          </c:dLbls>
          <c:dPt>
            <c:idx val="0"/>
            <c:invertIfNegative val="0"/>
            <c:bubble3D val="0"/>
            <c:spPr>
              <a:solidFill>
                <a:srgbClr val="B3372F"/>
              </a:solidFill>
              <a:effectLst/>
            </c:spPr>
          </c:dPt>
          <c:dPt>
            <c:idx val="1"/>
            <c:invertIfNegative val="0"/>
            <c:bubble3D val="0"/>
            <c:spPr>
              <a:solidFill>
                <a:srgbClr val="0E5F63"/>
              </a:solidFill>
              <a:effectLst/>
            </c:spPr>
          </c:dPt>
          <c:dPt>
            <c:idx val="2"/>
            <c:invertIfNegative val="0"/>
            <c:bubble3D val="0"/>
            <c:spPr>
              <a:solidFill>
                <a:srgbClr val="0E5F63"/>
              </a:solidFill>
              <a:effectLst/>
            </c:spPr>
          </c:dPt>
          <c:dPt>
            <c:idx val="3"/>
            <c:invertIfNegative val="0"/>
            <c:bubble3D val="0"/>
            <c:spPr>
              <a:solidFill>
                <a:srgbClr val="0E5F63"/>
              </a:solidFill>
              <a:effectLst/>
            </c:spPr>
          </c:dPt>
          <c:dPt>
            <c:idx val="4"/>
            <c:invertIfNegative val="0"/>
            <c:bubble3D val="0"/>
            <c:spPr>
              <a:solidFill>
                <a:srgbClr val="0E5F63"/>
              </a:solidFill>
              <a:effectLst/>
            </c:spPr>
          </c:dPt>
          <c:dPt>
            <c:idx val="5"/>
            <c:invertIfNegative val="0"/>
            <c:bubble3D val="0"/>
            <c:spPr>
              <a:solidFill>
                <a:srgbClr val="0E5F63"/>
              </a:solidFill>
              <a:effectLst/>
            </c:spPr>
          </c:dPt>
          <c:dPt>
            <c:idx val="6"/>
            <c:invertIfNegative val="0"/>
            <c:bubble3D val="0"/>
            <c:spPr>
              <a:solidFill>
                <a:srgbClr val="0E5F63"/>
              </a:solidFill>
              <a:effectLst/>
            </c:spPr>
          </c:dPt>
          <c:cat>
            <c:multiLvlStrRef>
              <c:f>Sheet1!$A$2:$A$8</c:f>
              <c:multiLvlStrCache>
                <c:ptCount val="7"/>
                <c:lvl>
                  <c:pt idx="0">
                    <c:v>Odontólogo(a)</c:v>
                  </c:pt>
                  <c:pt idx="1">
                    <c:v>Médico</c:v>
                  </c:pt>
                  <c:pt idx="2">
                    <c:v>Matrón(a)</c:v>
                  </c:pt>
                  <c:pt idx="3">
                    <c:v>Psicólogo(a)</c:v>
                  </c:pt>
                  <c:pt idx="4">
                    <c:v>Kinesiólogo(a)</c:v>
                  </c:pt>
                  <c:pt idx="5">
                    <c:v>Enfermero(a)</c:v>
                  </c:pt>
                  <c:pt idx="6">
                    <c:v>Nutricionista</c:v>
                  </c:pt>
                </c:lvl>
              </c:multiLvlStrCache>
            </c:multiLvlStrRef>
          </c:cat>
          <c:val>
            <c:numRef>
              <c:f>Sheet1!$B$2:$B$8</c:f>
              <c:numCache>
                <c:formatCode>General</c:formatCode>
                <c:ptCount val="7"/>
                <c:pt idx="0">
                  <c:v>-12.7</c:v>
                </c:pt>
                <c:pt idx="1">
                  <c:v>8.4</c:v>
                </c:pt>
                <c:pt idx="2">
                  <c:v>47.6</c:v>
                </c:pt>
                <c:pt idx="3">
                  <c:v>75.1</c:v>
                </c:pt>
                <c:pt idx="4">
                  <c:v>178.7</c:v>
                </c:pt>
                <c:pt idx="5">
                  <c:v>183.8</c:v>
                </c:pt>
                <c:pt idx="6">
                  <c:v>72.6</c:v>
                </c:pt>
              </c:numCache>
            </c:numRef>
          </c:val>
        </c:ser>
        <c:dLbls>
          <c:numFmt formatCode="#,##0" sourceLinked="0"/>
          <c:txPr>
            <a:bodyPr/>
            <a:lstStyle/>
            <a:p>
              <a:pPr>
                <a:defRPr b="0" i="0" strike="noStrike" sz="1100" u="none">
                  <a:solidFill>
                    <a:srgbClr val="4A5D6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D64"/>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CE4E6"/>
              </a:solidFill>
              <a:prstDash val="solid"/>
              <a:round/>
            </a:ln>
          </c:spPr>
        </c:majorGridlines>
        <c:title>
          <c:tx>
            <c:rich>
              <a:bodyPr/>
              <a:lstStyle/>
              <a:p>
                <a:pPr>
                  <a:defRPr sz="1100" b="0" i="0" u="none" strike="noStrike">
                    <a:solidFill>
                      <a:srgbClr val="7C8D93"/>
                    </a:solidFill>
                    <a:latin typeface="Arial"/>
                  </a:defRPr>
                </a:pPr>
                <a:r>
                  <a:rPr sz="1100" b="0" i="0" u="none" strike="noStrike">
                    <a:solidFill>
                      <a:srgbClr val="7C8D93"/>
                    </a:solidFill>
                    <a:latin typeface="Arial"/>
                  </a:rPr>
                  <a:t>horas por semana</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7C8D9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sin encender el computador. La primera lámina solo sirve para que la sala se siente.
No digas todavía qué es la herramienta. Parte por la pregunta de la lámina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CLAVE DE APERTURA. Haz la pregunta y CÁLLATE. Deja el silencio incómodo.
Deja que alguien intente responder. Casi siempre la respuesta es 'las que tenemos' o 'las del año pasado'.
Esa incomodidad es la que instala la necesidad. No la resuelvas tú: que la sienta la sala.
Recién ahí pasa a la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que ordena toda la reunión: 'No les traigo un invento. Les traigo lo mismo que ya usamos, pero que se puede revisar.'
IMPORTANTE: elogia la planilla con sinceridad. Su autor hizo un buen trabajo técnico. Si el equipo percibe que venimos a criticar a un colega, se cierra.
El problema no es el cálculo: es que el conocimiento vivía en una sola cabeza.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compra la credibilidad ANTES de pedir confianza. No te la saltes.
Si alguien pregunta '¿y cómo sé que no se equivocó en ambos lados?': el motor también reproduce exactamente la hoja de resumen del propio Excel (49,54 h de enfermería), que es una hoja que no participó del cálculo. Coincidir con un testigo independiente sí prueba algo.
No entres en más detalle técnico aquí salvo que lo pidan.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 la puedes romper' es lo que más tranquiliza. Repítelo.
Mucha gente del equipo tiene miedo de tocar la planilla original justamente porque SÍ se rompe. Ese miedo es real y hay que desactivarlo temprano.
Si puedes, muestra el doble clic en vivo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expliques botones: cuenta la historia. Esa frase de abajo es la que se les queda.
Los módulos 03 (sectores), 05 (box), 08 (por estamento) y 09 (escenarios) los ves más adelante. Aquí solo el esqueleto.
Si el equipo entiende este orden, ya entendió la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ausentismo es la primera objeción que aparece: '8% es inventado'. Concédelo de inmediato: SÍ es un supuesto, y por eso es editable y está a la vista.
El argumento fuerte: la planilla asumía 0% sin decirlo. Un supuesto visible se discute; uno escondido se hereda.
Si alguien tiene el dato real de licencias del centro, pídeselo ahí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existe porque probamos la herramienta en 5 centros distintos y descubrimos justamente esto.
Si la reunión es SOLO para Tongoy, puedes pasarla rápido: nuestra cartera ya está al día. Pero déjala, porque el día que la comparta otro CESFAM es el error más caro que se puede cometer.
Lo ideal, con tiempo, es reemplazar esas cifras por las del REM propio, prestación por prestación (módulo 06). Adaptar es la solución transitoria; el REM local es la definitiva.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cartel 'sobreasignado' suele generar la conversación más incómoda y más útil de toda la reunión. En la planilla original esto aparecía como 'delta negativo' y nadie lo miraba.
Sobre los box: sé honesto. Los números son inventados por mí como punto de partida. Necesitamos levantar el dato real. Pídelo como tarea concreta con responsable y fecha.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la herramienta se gana al equipo técnico: el cálculo deja de ser una caja negra.
Abre una prestación que ellos conozcan bien —control cardiovascular o control prenatal— no una cualquiera. Que reconozcan sus propios números.
Cobertura y concentración las decide el equipo, no la app. Insiste en eso: la app no decide nada, calcula consecuencias.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del ejercicio real de Tongoy con el per cápita 2026.
Más abajo en la app hay un gráfico de 'cuello de botella': dice qué recurso aprieta primero, si un estamento o una sala. Sobre 100% significa que ese recurso ya no da más.
Si la sala pregunta '¿y qué hacemos con odontología?': ese es exactamente el punto. La app no lo resuelve, lo pone sobre la mesa para que lo decidan.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lámina que le habla directo a los referentes técnicos. Cada uno llega a la reunión con una sola pregunta: ¿qué me toca a mí?
Dato técnico por si lo preguntan: esta vista NO recalcula nada, usa el mismo motor del balance global. Es imposible que el detalle contradiga al total. En una planilla, cada resumen es una fórmula distinta que se puede desincronizar.
Si tienes tiempo, abre el estamento de quien esté sentado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escenarios son el único insumo real para una conversación sobre dotación con el DESAM.
En vez de 'necesitamos más horas de odontología', puedes llegar con: 'con 22 horas más de odontólogo, la brecha se cierra y estas 14 prestaciones se cumplen'.
Eso se discute distinto.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'¿los datos se van a algún servidor?' aparece siempre. Respuesta: no. No hay internet de por medio salvo para dibujar los gráficos la primera vez. El archivo que descargas es el único lugar donde queda la información.
Esto importa especialmente porque el archivo original tenía RUN y nombres de 78 funcionarios. Esta versión viene anonimizada.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VA LA DEMO EN VIVO. Es el momento que convence, no te lo saltes.
1. Abre una prestación de alta carga en el módulo 06.
2. Cambia la cobertura de 1.0 a 0.8.
3. Ve al módulo 07 y que vean la barra moverse.
4. Vuelve atrás.
Ese instante —ver el balance reaccionar— hace más que toda la presentación.
Si te queda tiempo solo para una cosa, que sea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es la que te da autoridad. Nadie confía en quien presenta algo sin defectos.
Si listas tú los pendientes, el equipo deja de buscarlos para pillarte y empieza a ayudarte a resolverlos.
Sal de esta lámina con TAREAS CONCRETAS: quién levanta el dato de box, quién saca las licencias, para cuándo.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con esto y no agregues nada más. No vuelvas a los detalles técnicos.
Si hay preguntas, respóndelas antes de esta lámina.
Última frase antes de apagar el proyector: '¿Qué necesitan de mí para poder usarla?'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F33"/>
        </a:solidFill>
      </p:bgPr>
    </p:bg>
    <p:spTree>
      <p:nvGrpSpPr>
        <p:cNvPr id="1" name=""/>
        <p:cNvGrpSpPr/>
        <p:nvPr/>
      </p:nvGrpSpPr>
      <p:grpSpPr>
        <a:xfrm>
          <a:off x="0" y="0"/>
          <a:ext cx="0" cy="0"/>
          <a:chOff x="0" y="0"/>
          <a:chExt cx="0" cy="0"/>
        </a:xfrm>
      </p:grpSpPr>
      <p:sp>
        <p:nvSpPr>
          <p:cNvPr id="2" name="Shape 0"/>
          <p:cNvSpPr/>
          <p:nvPr/>
        </p:nvSpPr>
        <p:spPr>
          <a:xfrm>
            <a:off x="8869680" y="-1371600"/>
            <a:ext cx="5486400" cy="5486400"/>
          </a:xfrm>
          <a:prstGeom prst="ellipse">
            <a:avLst/>
          </a:prstGeom>
          <a:solidFill>
            <a:srgbClr val="0B4A4E"/>
          </a:solidFill>
          <a:ln/>
        </p:spPr>
      </p:sp>
      <p:sp>
        <p:nvSpPr>
          <p:cNvPr id="3" name="Shape 1"/>
          <p:cNvSpPr/>
          <p:nvPr/>
        </p:nvSpPr>
        <p:spPr>
          <a:xfrm>
            <a:off x="10241280" y="3840480"/>
            <a:ext cx="3108960" cy="3108960"/>
          </a:xfrm>
          <a:prstGeom prst="ellipse">
            <a:avLst/>
          </a:prstGeom>
          <a:solidFill>
            <a:srgbClr val="0E5F63"/>
          </a:solidFill>
          <a:ln/>
        </p:spPr>
      </p:sp>
      <p:sp>
        <p:nvSpPr>
          <p:cNvPr id="4" name="Text 2"/>
          <p:cNvSpPr/>
          <p:nvPr/>
        </p:nvSpPr>
        <p:spPr>
          <a:xfrm>
            <a:off x="822960" y="2103120"/>
            <a:ext cx="5486400" cy="73152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Program</a:t>
            </a:r>
            <a:endParaRPr lang="en-US" sz="5400" dirty="0"/>
          </a:p>
        </p:txBody>
      </p:sp>
      <p:sp>
        <p:nvSpPr>
          <p:cNvPr id="5" name="Text 3"/>
          <p:cNvSpPr/>
          <p:nvPr/>
        </p:nvSpPr>
        <p:spPr>
          <a:xfrm>
            <a:off x="3977640" y="2103120"/>
            <a:ext cx="2743200" cy="731520"/>
          </a:xfrm>
          <a:prstGeom prst="rect">
            <a:avLst/>
          </a:prstGeom>
          <a:noFill/>
          <a:ln/>
        </p:spPr>
        <p:txBody>
          <a:bodyPr wrap="square" rtlCol="0" anchor="ctr"/>
          <a:lstStyle/>
          <a:p>
            <a:pPr indent="0" marL="0">
              <a:buNone/>
            </a:pPr>
            <a:r>
              <a:rPr lang="en-US" sz="5400" b="1" dirty="0">
                <a:solidFill>
                  <a:srgbClr val="6FC2B4"/>
                </a:solidFill>
                <a:latin typeface="Cambria" pitchFamily="34" charset="0"/>
                <a:ea typeface="Cambria" pitchFamily="34" charset="-122"/>
                <a:cs typeface="Cambria" pitchFamily="34" charset="-120"/>
              </a:rPr>
              <a:t>APS</a:t>
            </a:r>
            <a:endParaRPr lang="en-US" sz="5400" dirty="0"/>
          </a:p>
        </p:txBody>
      </p:sp>
      <p:sp>
        <p:nvSpPr>
          <p:cNvPr id="6" name="Text 4"/>
          <p:cNvSpPr/>
          <p:nvPr/>
        </p:nvSpPr>
        <p:spPr>
          <a:xfrm>
            <a:off x="822960" y="3017520"/>
            <a:ext cx="7863840" cy="457200"/>
          </a:xfrm>
          <a:prstGeom prst="rect">
            <a:avLst/>
          </a:prstGeom>
          <a:noFill/>
          <a:ln/>
        </p:spPr>
        <p:txBody>
          <a:bodyPr wrap="square" rtlCol="0" anchor="ctr"/>
          <a:lstStyle/>
          <a:p>
            <a:pPr indent="0" marL="0">
              <a:buNone/>
            </a:pPr>
            <a:r>
              <a:rPr lang="en-US" sz="2200" dirty="0">
                <a:solidFill>
                  <a:srgbClr val="C7DAD8"/>
                </a:solidFill>
                <a:latin typeface="Calibri" pitchFamily="34" charset="0"/>
                <a:ea typeface="Calibri" pitchFamily="34" charset="-122"/>
                <a:cs typeface="Calibri" pitchFamily="34" charset="-120"/>
              </a:rPr>
              <a:t>Cómo programar el año de nuestro CESFAM</a:t>
            </a:r>
            <a:endParaRPr lang="en-US" sz="2200" dirty="0"/>
          </a:p>
        </p:txBody>
      </p:sp>
      <p:sp>
        <p:nvSpPr>
          <p:cNvPr id="7" name="Text 5"/>
          <p:cNvSpPr/>
          <p:nvPr/>
        </p:nvSpPr>
        <p:spPr>
          <a:xfrm>
            <a:off x="822960" y="3611880"/>
            <a:ext cx="7863840" cy="365760"/>
          </a:xfrm>
          <a:prstGeom prst="rect">
            <a:avLst/>
          </a:prstGeom>
          <a:noFill/>
          <a:ln/>
        </p:spPr>
        <p:txBody>
          <a:bodyPr wrap="square" rtlCol="0" anchor="ctr"/>
          <a:lstStyle/>
          <a:p>
            <a:pPr indent="0" marL="0">
              <a:buNone/>
            </a:pPr>
            <a:r>
              <a:rPr lang="en-US" sz="1400" i="1" dirty="0">
                <a:solidFill>
                  <a:srgbClr val="8FB2AE"/>
                </a:solidFill>
                <a:latin typeface="Calibri" pitchFamily="34" charset="0"/>
                <a:ea typeface="Calibri" pitchFamily="34" charset="-122"/>
                <a:cs typeface="Calibri" pitchFamily="34" charset="-120"/>
              </a:rPr>
              <a:t>Una herramienta para decidir con las horas que realmente tenemos</a:t>
            </a:r>
            <a:endParaRPr lang="en-US" sz="1400" dirty="0"/>
          </a:p>
        </p:txBody>
      </p:sp>
      <p:sp>
        <p:nvSpPr>
          <p:cNvPr id="8" name="Text 6"/>
          <p:cNvSpPr/>
          <p:nvPr/>
        </p:nvSpPr>
        <p:spPr>
          <a:xfrm>
            <a:off x="822960" y="5394960"/>
            <a:ext cx="7315200" cy="274320"/>
          </a:xfrm>
          <a:prstGeom prst="rect">
            <a:avLst/>
          </a:prstGeom>
          <a:noFill/>
          <a:ln/>
        </p:spPr>
        <p:txBody>
          <a:bodyPr wrap="square" rtlCol="0" anchor="ctr"/>
          <a:lstStyle/>
          <a:p>
            <a:pPr indent="0" marL="0">
              <a:buNone/>
            </a:pPr>
            <a:r>
              <a:rPr lang="en-US" sz="1200" dirty="0">
                <a:solidFill>
                  <a:srgbClr val="6FA39E"/>
                </a:solidFill>
                <a:latin typeface="Calibri" pitchFamily="34" charset="0"/>
                <a:ea typeface="Calibri" pitchFamily="34" charset="-122"/>
                <a:cs typeface="Calibri" pitchFamily="34" charset="-120"/>
              </a:rPr>
              <a:t>Departamento de Salud · CESFAM Tongoy y Posta Guanaqueros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2F33"/>
        </a:solidFill>
      </p:bgPr>
    </p:bg>
    <p:spTree>
      <p:nvGrpSpPr>
        <p:cNvPr id="1" name=""/>
        <p:cNvGrpSpPr/>
        <p:nvPr/>
      </p:nvGrpSpPr>
      <p:grpSpPr>
        <a:xfrm>
          <a:off x="0" y="0"/>
          <a:ext cx="0" cy="0"/>
          <a:chOff x="0" y="0"/>
          <a:chExt cx="0" cy="0"/>
        </a:xfrm>
      </p:grpSpPr>
      <p:sp>
        <p:nvSpPr>
          <p:cNvPr id="2" name="Text 0"/>
          <p:cNvSpPr/>
          <p:nvPr/>
        </p:nvSpPr>
        <p:spPr>
          <a:xfrm>
            <a:off x="914400" y="1828800"/>
            <a:ext cx="10058400" cy="365760"/>
          </a:xfrm>
          <a:prstGeom prst="rect">
            <a:avLst/>
          </a:prstGeom>
          <a:noFill/>
          <a:ln/>
        </p:spPr>
        <p:txBody>
          <a:bodyPr wrap="square" rtlCol="0" anchor="ctr"/>
          <a:lstStyle/>
          <a:p>
            <a:pPr indent="0" marL="0">
              <a:buNone/>
            </a:pPr>
            <a:r>
              <a:rPr lang="en-US" sz="1700" dirty="0">
                <a:solidFill>
                  <a:srgbClr val="8FB2AE"/>
                </a:solidFill>
                <a:latin typeface="Calibri" pitchFamily="34" charset="0"/>
                <a:ea typeface="Calibri" pitchFamily="34" charset="-122"/>
                <a:cs typeface="Calibri" pitchFamily="34" charset="-120"/>
              </a:rPr>
              <a:t>Una pregunta, antes de mostrar nada:</a:t>
            </a:r>
            <a:endParaRPr lang="en-US" sz="1700" dirty="0"/>
          </a:p>
        </p:txBody>
      </p:sp>
      <p:sp>
        <p:nvSpPr>
          <p:cNvPr id="3" name="Text 1"/>
          <p:cNvSpPr/>
          <p:nvPr/>
        </p:nvSpPr>
        <p:spPr>
          <a:xfrm>
            <a:off x="914400" y="2286000"/>
            <a:ext cx="10332720" cy="1554480"/>
          </a:xfrm>
          <a:prstGeom prst="rect">
            <a:avLst/>
          </a:prstGeom>
          <a:noFill/>
          <a:ln/>
        </p:spPr>
        <p:txBody>
          <a:bodyPr wrap="square"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¿Cuántas horas de médico</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necesitamos el próximo año?</a:t>
            </a:r>
            <a:endParaRPr lang="en-US" sz="4200" dirty="0"/>
          </a:p>
        </p:txBody>
      </p:sp>
      <p:sp>
        <p:nvSpPr>
          <p:cNvPr id="4" name="Text 2"/>
          <p:cNvSpPr/>
          <p:nvPr/>
        </p:nvSpPr>
        <p:spPr>
          <a:xfrm>
            <a:off x="914400" y="4023360"/>
            <a:ext cx="10058400" cy="548640"/>
          </a:xfrm>
          <a:prstGeom prst="rect">
            <a:avLst/>
          </a:prstGeom>
          <a:noFill/>
          <a:ln/>
        </p:spPr>
        <p:txBody>
          <a:bodyPr wrap="square" rtlCol="0" anchor="ctr"/>
          <a:lstStyle/>
          <a:p>
            <a:pPr indent="0" marL="0">
              <a:buNone/>
            </a:pPr>
            <a:r>
              <a:rPr lang="en-US" sz="3000" i="1" dirty="0">
                <a:solidFill>
                  <a:srgbClr val="6FC2B4"/>
                </a:solidFill>
                <a:latin typeface="Cambria" pitchFamily="34" charset="0"/>
                <a:ea typeface="Cambria" pitchFamily="34" charset="-122"/>
                <a:cs typeface="Cambria" pitchFamily="34" charset="-120"/>
              </a:rPr>
              <a:t>¿Y cómo lo sabemos?</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Ya teníamos la respuesta</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Estaba en una planilla Excel que calcula bien. El problema nunca fue el cálculo.</a:t>
            </a:r>
            <a:endParaRPr lang="en-US" sz="1500" dirty="0"/>
          </a:p>
        </p:txBody>
      </p:sp>
      <p:sp>
        <p:nvSpPr>
          <p:cNvPr id="4" name="Shape 2"/>
          <p:cNvSpPr/>
          <p:nvPr/>
        </p:nvSpPr>
        <p:spPr>
          <a:xfrm>
            <a:off x="640080" y="1737360"/>
            <a:ext cx="5257800" cy="3931920"/>
          </a:xfrm>
          <a:prstGeom prst="roundRect">
            <a:avLst>
              <a:gd name="adj" fmla="val 1860"/>
            </a:avLst>
          </a:prstGeom>
          <a:solidFill>
            <a:srgbClr val="E4F2EA"/>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Text 3"/>
          <p:cNvSpPr/>
          <p:nvPr/>
        </p:nvSpPr>
        <p:spPr>
          <a:xfrm>
            <a:off x="960120" y="1965960"/>
            <a:ext cx="4572000" cy="365760"/>
          </a:xfrm>
          <a:prstGeom prst="rect">
            <a:avLst/>
          </a:prstGeom>
          <a:noFill/>
          <a:ln/>
        </p:spPr>
        <p:txBody>
          <a:bodyPr wrap="square" rtlCol="0" anchor="ctr"/>
          <a:lstStyle/>
          <a:p>
            <a:pPr indent="0" marL="0">
              <a:buNone/>
            </a:pPr>
            <a:r>
              <a:rPr lang="en-US" sz="2100" b="1" dirty="0">
                <a:solidFill>
                  <a:srgbClr val="1E7B4F"/>
                </a:solidFill>
                <a:latin typeface="Cambria" pitchFamily="34" charset="0"/>
                <a:ea typeface="Cambria" pitchFamily="34" charset="-122"/>
                <a:cs typeface="Cambria" pitchFamily="34" charset="-120"/>
              </a:rPr>
              <a:t>Lo que hacía bien</a:t>
            </a:r>
            <a:endParaRPr lang="en-US" sz="2100" dirty="0"/>
          </a:p>
        </p:txBody>
      </p:sp>
      <p:sp>
        <p:nvSpPr>
          <p:cNvPr id="6" name="Text 4"/>
          <p:cNvSpPr/>
          <p:nvPr/>
        </p:nvSpPr>
        <p:spPr>
          <a:xfrm>
            <a:off x="960120" y="2514600"/>
            <a:ext cx="4663440" cy="2926080"/>
          </a:xfrm>
          <a:prstGeom prst="rect">
            <a:avLst/>
          </a:prstGeom>
          <a:noFill/>
          <a:ln/>
        </p:spPr>
        <p:txBody>
          <a:bodyPr wrap="square" rtlCol="0" anchor="ctr"/>
          <a:lstStyle/>
          <a:p>
            <a:pPr marL="342900" indent="-342900">
              <a:spcAft>
                <a:spcPts val="1100"/>
              </a:spcAft>
              <a:buSzPct val="100000"/>
              <a:buChar char="•"/>
            </a:pPr>
            <a:r>
              <a:rPr lang="en-US" sz="1500" dirty="0">
                <a:solidFill>
                  <a:srgbClr val="16262C"/>
                </a:solidFill>
                <a:latin typeface="Calibri" pitchFamily="34" charset="0"/>
                <a:ea typeface="Calibri" pitchFamily="34" charset="-122"/>
                <a:cs typeface="Calibri" pitchFamily="34" charset="-120"/>
              </a:rPr>
              <a:t>Estima la demanda desde la población real</a:t>
            </a:r>
            <a:endParaRPr lang="en-US" sz="1500" dirty="0"/>
          </a:p>
          <a:p>
            <a:pPr marL="342900" indent="-342900">
              <a:spcAft>
                <a:spcPts val="1100"/>
              </a:spcAft>
              <a:buSzPct val="100000"/>
              <a:buChar char="•"/>
            </a:pPr>
            <a:r>
              <a:rPr lang="en-US" sz="1500" dirty="0">
                <a:solidFill>
                  <a:srgbClr val="16262C"/>
                </a:solidFill>
                <a:latin typeface="Calibri" pitchFamily="34" charset="0"/>
                <a:ea typeface="Calibri" pitchFamily="34" charset="-122"/>
                <a:cs typeface="Calibri" pitchFamily="34" charset="-120"/>
              </a:rPr>
              <a:t>Convierte esa demanda en horas por estamento</a:t>
            </a:r>
            <a:endParaRPr lang="en-US" sz="1500" dirty="0"/>
          </a:p>
          <a:p>
            <a:pPr marL="342900" indent="-342900">
              <a:spcAft>
                <a:spcPts val="1100"/>
              </a:spcAft>
              <a:buSzPct val="100000"/>
              <a:buChar char="•"/>
            </a:pPr>
            <a:r>
              <a:rPr lang="en-US" sz="1500" dirty="0">
                <a:solidFill>
                  <a:srgbClr val="16262C"/>
                </a:solidFill>
                <a:latin typeface="Calibri" pitchFamily="34" charset="0"/>
                <a:ea typeface="Calibri" pitchFamily="34" charset="-122"/>
                <a:cs typeface="Calibri" pitchFamily="34" charset="-120"/>
              </a:rPr>
              <a:t>Compara lo que se necesita con lo que hay</a:t>
            </a:r>
            <a:endParaRPr lang="en-US" sz="1500" dirty="0"/>
          </a:p>
          <a:p>
            <a:pPr marL="342900" indent="-342900">
              <a:spcAft>
                <a:spcPts val="1100"/>
              </a:spcAft>
              <a:buSzPct val="100000"/>
              <a:buChar char="•"/>
            </a:pPr>
            <a:r>
              <a:rPr lang="en-US" sz="1500" dirty="0">
                <a:solidFill>
                  <a:srgbClr val="16262C"/>
                </a:solidFill>
                <a:latin typeface="Calibri" pitchFamily="34" charset="0"/>
                <a:ea typeface="Calibri" pitchFamily="34" charset="-122"/>
                <a:cs typeface="Calibri" pitchFamily="34" charset="-120"/>
              </a:rPr>
              <a:t>236 prestaciones, todos los ciclos vitales</a:t>
            </a:r>
            <a:endParaRPr lang="en-US" sz="1500" dirty="0"/>
          </a:p>
          <a:p>
            <a:pPr marL="342900" indent="-342900">
              <a:spcAft>
                <a:spcPts val="1100"/>
              </a:spcAft>
              <a:buSzPct val="100000"/>
              <a:buChar char="•"/>
            </a:pPr>
            <a:r>
              <a:rPr lang="en-US" sz="1500" b="1" dirty="0">
                <a:solidFill>
                  <a:srgbClr val="16262C"/>
                </a:solidFill>
                <a:latin typeface="Calibri" pitchFamily="34" charset="0"/>
                <a:ea typeface="Calibri" pitchFamily="34" charset="-122"/>
                <a:cs typeface="Calibri" pitchFamily="34" charset="-120"/>
              </a:rPr>
              <a:t>Es un buen modelo técnico. De verdad.</a:t>
            </a:r>
            <a:endParaRPr lang="en-US" sz="1500" dirty="0"/>
          </a:p>
        </p:txBody>
      </p:sp>
      <p:sp>
        <p:nvSpPr>
          <p:cNvPr id="7" name="Shape 5"/>
          <p:cNvSpPr/>
          <p:nvPr/>
        </p:nvSpPr>
        <p:spPr>
          <a:xfrm>
            <a:off x="6263640" y="1737360"/>
            <a:ext cx="5257800" cy="3931920"/>
          </a:xfrm>
          <a:prstGeom prst="roundRect">
            <a:avLst>
              <a:gd name="adj" fmla="val 1860"/>
            </a:avLst>
          </a:prstGeom>
          <a:solidFill>
            <a:srgbClr val="FBF1DC"/>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8" name="Text 6"/>
          <p:cNvSpPr/>
          <p:nvPr/>
        </p:nvSpPr>
        <p:spPr>
          <a:xfrm>
            <a:off x="6583680" y="1965960"/>
            <a:ext cx="4572000" cy="365760"/>
          </a:xfrm>
          <a:prstGeom prst="rect">
            <a:avLst/>
          </a:prstGeom>
          <a:noFill/>
          <a:ln/>
        </p:spPr>
        <p:txBody>
          <a:bodyPr wrap="square" rtlCol="0" anchor="ctr"/>
          <a:lstStyle/>
          <a:p>
            <a:pPr indent="0" marL="0">
              <a:buNone/>
            </a:pPr>
            <a:r>
              <a:rPr lang="en-US" sz="2100" b="1" dirty="0">
                <a:solidFill>
                  <a:srgbClr val="B47714"/>
                </a:solidFill>
                <a:latin typeface="Cambria" pitchFamily="34" charset="0"/>
                <a:ea typeface="Cambria" pitchFamily="34" charset="-122"/>
                <a:cs typeface="Cambria" pitchFamily="34" charset="-120"/>
              </a:rPr>
              <a:t>Lo que costaba</a:t>
            </a:r>
            <a:endParaRPr lang="en-US" sz="2100" dirty="0"/>
          </a:p>
        </p:txBody>
      </p:sp>
      <p:sp>
        <p:nvSpPr>
          <p:cNvPr id="9" name="Text 7"/>
          <p:cNvSpPr/>
          <p:nvPr/>
        </p:nvSpPr>
        <p:spPr>
          <a:xfrm>
            <a:off x="6583680" y="2514600"/>
            <a:ext cx="4663440" cy="2926080"/>
          </a:xfrm>
          <a:prstGeom prst="rect">
            <a:avLst/>
          </a:prstGeom>
          <a:noFill/>
          <a:ln/>
        </p:spPr>
        <p:txBody>
          <a:bodyPr wrap="square" rtlCol="0" anchor="ctr"/>
          <a:lstStyle/>
          <a:p>
            <a:pPr marL="342900" indent="-342900">
              <a:spcAft>
                <a:spcPts val="1100"/>
              </a:spcAft>
              <a:buSzPct val="100000"/>
              <a:buChar char="•"/>
            </a:pPr>
            <a:r>
              <a:rPr lang="en-US" sz="1500" dirty="0">
                <a:solidFill>
                  <a:srgbClr val="16262C"/>
                </a:solidFill>
                <a:latin typeface="Calibri" pitchFamily="34" charset="0"/>
                <a:ea typeface="Calibri" pitchFamily="34" charset="-122"/>
                <a:cs typeface="Calibri" pitchFamily="34" charset="-120"/>
              </a:rPr>
              <a:t>Hojas ocultas: nadie veía los supuestos</a:t>
            </a:r>
            <a:endParaRPr lang="en-US" sz="1500" dirty="0"/>
          </a:p>
          <a:p>
            <a:pPr marL="342900" indent="-342900">
              <a:spcAft>
                <a:spcPts val="1100"/>
              </a:spcAft>
              <a:buSzPct val="100000"/>
              <a:buChar char="•"/>
            </a:pPr>
            <a:r>
              <a:rPr lang="en-US" sz="1500" dirty="0">
                <a:solidFill>
                  <a:srgbClr val="16262C"/>
                </a:solidFill>
                <a:latin typeface="Calibri" pitchFamily="34" charset="0"/>
                <a:ea typeface="Calibri" pitchFamily="34" charset="-122"/>
                <a:cs typeface="Calibri" pitchFamily="34" charset="-120"/>
              </a:rPr>
              <a:t>Fórmulas que se rompen con un Suprimir</a:t>
            </a:r>
            <a:endParaRPr lang="en-US" sz="1500" dirty="0"/>
          </a:p>
          <a:p>
            <a:pPr marL="342900" indent="-342900">
              <a:spcAft>
                <a:spcPts val="1100"/>
              </a:spcAft>
              <a:buSzPct val="100000"/>
              <a:buChar char="•"/>
            </a:pPr>
            <a:r>
              <a:rPr lang="en-US" sz="1500" dirty="0">
                <a:solidFill>
                  <a:srgbClr val="16262C"/>
                </a:solidFill>
                <a:latin typeface="Calibri" pitchFamily="34" charset="0"/>
                <a:ea typeface="Calibri" pitchFamily="34" charset="-122"/>
                <a:cs typeface="Calibri" pitchFamily="34" charset="-120"/>
              </a:rPr>
              <a:t>Horas que aparecían como «-1 day, 23:25»</a:t>
            </a:r>
            <a:endParaRPr lang="en-US" sz="1500" dirty="0"/>
          </a:p>
          <a:p>
            <a:pPr marL="342900" indent="-342900">
              <a:spcAft>
                <a:spcPts val="1100"/>
              </a:spcAft>
              <a:buSzPct val="100000"/>
              <a:buChar char="•"/>
            </a:pPr>
            <a:r>
              <a:rPr lang="en-US" sz="1500" dirty="0">
                <a:solidFill>
                  <a:srgbClr val="16262C"/>
                </a:solidFill>
                <a:latin typeface="Calibri" pitchFamily="34" charset="0"/>
                <a:ea typeface="Calibri" pitchFamily="34" charset="-122"/>
                <a:cs typeface="Calibri" pitchFamily="34" charset="-120"/>
              </a:rPr>
              <a:t>RUN y nombres de 78 personas dando vueltas</a:t>
            </a:r>
            <a:endParaRPr lang="en-US" sz="1500" dirty="0"/>
          </a:p>
          <a:p>
            <a:pPr marL="342900" indent="-342900">
              <a:spcAft>
                <a:spcPts val="1100"/>
              </a:spcAft>
              <a:buSzPct val="100000"/>
              <a:buChar char="•"/>
            </a:pPr>
            <a:r>
              <a:rPr lang="en-US" sz="1500" b="1" dirty="0">
                <a:solidFill>
                  <a:srgbClr val="16262C"/>
                </a:solidFill>
                <a:latin typeface="Calibri" pitchFamily="34" charset="0"/>
                <a:ea typeface="Calibri" pitchFamily="34" charset="-122"/>
                <a:cs typeface="Calibri" pitchFamily="34" charset="-120"/>
              </a:rPr>
              <a:t>Reglas que solo estaban en la cabeza de quien la hizo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¿Y cómo sabemos que calcula bien?</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Le pedimos a la app el mismo ejercicio que hizo la planilla, con los mismos datos.</a:t>
            </a:r>
            <a:endParaRPr lang="en-US" sz="1500" dirty="0"/>
          </a:p>
        </p:txBody>
      </p:sp>
      <p:sp>
        <p:nvSpPr>
          <p:cNvPr id="4" name="Shape 2"/>
          <p:cNvSpPr/>
          <p:nvPr/>
        </p:nvSpPr>
        <p:spPr>
          <a:xfrm>
            <a:off x="640080" y="1920240"/>
            <a:ext cx="5257800" cy="2286000"/>
          </a:xfrm>
          <a:prstGeom prst="roundRect">
            <a:avLst>
              <a:gd name="adj" fmla="val 3200"/>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Text 3"/>
          <p:cNvSpPr/>
          <p:nvPr/>
        </p:nvSpPr>
        <p:spPr>
          <a:xfrm>
            <a:off x="960120" y="2148840"/>
            <a:ext cx="4572000" cy="274320"/>
          </a:xfrm>
          <a:prstGeom prst="rect">
            <a:avLst/>
          </a:prstGeom>
          <a:noFill/>
          <a:ln/>
        </p:spPr>
        <p:txBody>
          <a:bodyPr wrap="square" rtlCol="0" anchor="ctr"/>
          <a:lstStyle/>
          <a:p>
            <a:pPr indent="0" marL="0">
              <a:buNone/>
            </a:pPr>
            <a:r>
              <a:rPr lang="en-US" sz="1400" dirty="0">
                <a:solidFill>
                  <a:srgbClr val="7C8D93"/>
                </a:solidFill>
                <a:latin typeface="Calibri" pitchFamily="34" charset="0"/>
                <a:ea typeface="Calibri" pitchFamily="34" charset="-122"/>
                <a:cs typeface="Calibri" pitchFamily="34" charset="-120"/>
              </a:rPr>
              <a:t>La planilla Excel</a:t>
            </a:r>
            <a:endParaRPr lang="en-US" sz="1400" dirty="0"/>
          </a:p>
        </p:txBody>
      </p:sp>
      <p:sp>
        <p:nvSpPr>
          <p:cNvPr id="6" name="Text 4"/>
          <p:cNvSpPr/>
          <p:nvPr/>
        </p:nvSpPr>
        <p:spPr>
          <a:xfrm>
            <a:off x="960120" y="2514600"/>
            <a:ext cx="4572000" cy="1005840"/>
          </a:xfrm>
          <a:prstGeom prst="rect">
            <a:avLst/>
          </a:prstGeom>
          <a:noFill/>
          <a:ln/>
        </p:spPr>
        <p:txBody>
          <a:bodyPr wrap="square" rtlCol="0" anchor="ctr"/>
          <a:lstStyle/>
          <a:p>
            <a:pPr indent="0" marL="0">
              <a:buNone/>
            </a:pPr>
            <a:r>
              <a:rPr lang="en-US" sz="6600" b="1" dirty="0">
                <a:solidFill>
                  <a:srgbClr val="16262C"/>
                </a:solidFill>
                <a:latin typeface="Cambria" pitchFamily="34" charset="0"/>
                <a:ea typeface="Cambria" pitchFamily="34" charset="-122"/>
                <a:cs typeface="Cambria" pitchFamily="34" charset="-120"/>
              </a:rPr>
              <a:t>480,84</a:t>
            </a:r>
            <a:endParaRPr lang="en-US" sz="6600" dirty="0"/>
          </a:p>
        </p:txBody>
      </p:sp>
      <p:sp>
        <p:nvSpPr>
          <p:cNvPr id="7" name="Text 5"/>
          <p:cNvSpPr/>
          <p:nvPr/>
        </p:nvSpPr>
        <p:spPr>
          <a:xfrm>
            <a:off x="960120" y="3566160"/>
            <a:ext cx="4572000" cy="274320"/>
          </a:xfrm>
          <a:prstGeom prst="rect">
            <a:avLst/>
          </a:prstGeom>
          <a:noFill/>
          <a:ln/>
        </p:spPr>
        <p:txBody>
          <a:bodyPr wrap="square" rtlCol="0" anchor="ctr"/>
          <a:lstStyle/>
          <a:p>
            <a:pPr indent="0" marL="0">
              <a:buNone/>
            </a:pPr>
            <a:r>
              <a:rPr lang="en-US" sz="1400" dirty="0">
                <a:solidFill>
                  <a:srgbClr val="4A5D64"/>
                </a:solidFill>
                <a:latin typeface="Calibri" pitchFamily="34" charset="0"/>
                <a:ea typeface="Calibri" pitchFamily="34" charset="-122"/>
                <a:cs typeface="Calibri" pitchFamily="34" charset="-120"/>
              </a:rPr>
              <a:t>horas clínicas por semana</a:t>
            </a:r>
            <a:endParaRPr lang="en-US" sz="1400" dirty="0"/>
          </a:p>
        </p:txBody>
      </p:sp>
      <p:sp>
        <p:nvSpPr>
          <p:cNvPr id="8" name="Shape 6"/>
          <p:cNvSpPr/>
          <p:nvPr/>
        </p:nvSpPr>
        <p:spPr>
          <a:xfrm>
            <a:off x="6263640" y="1920240"/>
            <a:ext cx="5257800" cy="2286000"/>
          </a:xfrm>
          <a:prstGeom prst="roundRect">
            <a:avLst>
              <a:gd name="adj" fmla="val 3200"/>
            </a:avLst>
          </a:prstGeom>
          <a:solidFill>
            <a:srgbClr val="E3EFE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9" name="Text 7"/>
          <p:cNvSpPr/>
          <p:nvPr/>
        </p:nvSpPr>
        <p:spPr>
          <a:xfrm>
            <a:off x="6583680" y="2148840"/>
            <a:ext cx="4572000" cy="274320"/>
          </a:xfrm>
          <a:prstGeom prst="rect">
            <a:avLst/>
          </a:prstGeom>
          <a:noFill/>
          <a:ln/>
        </p:spPr>
        <p:txBody>
          <a:bodyPr wrap="square" rtlCol="0" anchor="ctr"/>
          <a:lstStyle/>
          <a:p>
            <a:pPr indent="0" marL="0">
              <a:buNone/>
            </a:pPr>
            <a:r>
              <a:rPr lang="en-US" sz="1400" dirty="0">
                <a:solidFill>
                  <a:srgbClr val="0B4A4E"/>
                </a:solidFill>
                <a:latin typeface="Calibri" pitchFamily="34" charset="0"/>
                <a:ea typeface="Calibri" pitchFamily="34" charset="-122"/>
                <a:cs typeface="Calibri" pitchFamily="34" charset="-120"/>
              </a:rPr>
              <a:t>ProgramAPS</a:t>
            </a:r>
            <a:endParaRPr lang="en-US" sz="1400" dirty="0"/>
          </a:p>
        </p:txBody>
      </p:sp>
      <p:sp>
        <p:nvSpPr>
          <p:cNvPr id="10" name="Text 8"/>
          <p:cNvSpPr/>
          <p:nvPr/>
        </p:nvSpPr>
        <p:spPr>
          <a:xfrm>
            <a:off x="6583680" y="2514600"/>
            <a:ext cx="4572000" cy="1005840"/>
          </a:xfrm>
          <a:prstGeom prst="rect">
            <a:avLst/>
          </a:prstGeom>
          <a:noFill/>
          <a:ln/>
        </p:spPr>
        <p:txBody>
          <a:bodyPr wrap="square" rtlCol="0" anchor="ctr"/>
          <a:lstStyle/>
          <a:p>
            <a:pPr indent="0" marL="0">
              <a:buNone/>
            </a:pPr>
            <a:r>
              <a:rPr lang="en-US" sz="6600" b="1" dirty="0">
                <a:solidFill>
                  <a:srgbClr val="0E5F63"/>
                </a:solidFill>
                <a:latin typeface="Cambria" pitchFamily="34" charset="0"/>
                <a:ea typeface="Cambria" pitchFamily="34" charset="-122"/>
                <a:cs typeface="Cambria" pitchFamily="34" charset="-120"/>
              </a:rPr>
              <a:t>480,84</a:t>
            </a:r>
            <a:endParaRPr lang="en-US" sz="6600" dirty="0"/>
          </a:p>
        </p:txBody>
      </p:sp>
      <p:sp>
        <p:nvSpPr>
          <p:cNvPr id="11" name="Text 9"/>
          <p:cNvSpPr/>
          <p:nvPr/>
        </p:nvSpPr>
        <p:spPr>
          <a:xfrm>
            <a:off x="6583680" y="3566160"/>
            <a:ext cx="4572000" cy="274320"/>
          </a:xfrm>
          <a:prstGeom prst="rect">
            <a:avLst/>
          </a:prstGeom>
          <a:noFill/>
          <a:ln/>
        </p:spPr>
        <p:txBody>
          <a:bodyPr wrap="square" rtlCol="0" anchor="ctr"/>
          <a:lstStyle/>
          <a:p>
            <a:pPr indent="0" marL="0">
              <a:buNone/>
            </a:pPr>
            <a:r>
              <a:rPr lang="en-US" sz="1400" dirty="0">
                <a:solidFill>
                  <a:srgbClr val="0B4A4E"/>
                </a:solidFill>
                <a:latin typeface="Calibri" pitchFamily="34" charset="0"/>
                <a:ea typeface="Calibri" pitchFamily="34" charset="-122"/>
                <a:cs typeface="Calibri" pitchFamily="34" charset="-120"/>
              </a:rPr>
              <a:t>horas clínicas por semana</a:t>
            </a:r>
            <a:endParaRPr lang="en-US" sz="1400" dirty="0"/>
          </a:p>
        </p:txBody>
      </p:sp>
      <p:sp>
        <p:nvSpPr>
          <p:cNvPr id="12" name="Text 10"/>
          <p:cNvSpPr/>
          <p:nvPr/>
        </p:nvSpPr>
        <p:spPr>
          <a:xfrm>
            <a:off x="5806440" y="2697480"/>
            <a:ext cx="548640" cy="640080"/>
          </a:xfrm>
          <a:prstGeom prst="rect">
            <a:avLst/>
          </a:prstGeom>
          <a:noFill/>
          <a:ln/>
        </p:spPr>
        <p:txBody>
          <a:bodyPr wrap="square" rtlCol="0" anchor="ctr"/>
          <a:lstStyle/>
          <a:p>
            <a:pPr algn="ctr" indent="0" marL="0">
              <a:buNone/>
            </a:pPr>
            <a:r>
              <a:rPr lang="en-US" sz="4000" b="1" dirty="0">
                <a:solidFill>
                  <a:srgbClr val="7C8D93"/>
                </a:solidFill>
                <a:latin typeface="Cambria" pitchFamily="34" charset="0"/>
                <a:ea typeface="Cambria" pitchFamily="34" charset="-122"/>
                <a:cs typeface="Cambria" pitchFamily="34" charset="-120"/>
              </a:rPr>
              <a:t>=</a:t>
            </a:r>
            <a:endParaRPr lang="en-US" sz="4000" dirty="0"/>
          </a:p>
        </p:txBody>
      </p:sp>
      <p:sp>
        <p:nvSpPr>
          <p:cNvPr id="13" name="Text 11"/>
          <p:cNvSpPr/>
          <p:nvPr/>
        </p:nvSpPr>
        <p:spPr>
          <a:xfrm>
            <a:off x="640080" y="4526280"/>
            <a:ext cx="10881360" cy="365760"/>
          </a:xfrm>
          <a:prstGeom prst="rect">
            <a:avLst/>
          </a:prstGeom>
          <a:noFill/>
          <a:ln/>
        </p:spPr>
        <p:txBody>
          <a:bodyPr wrap="square" rtlCol="0" anchor="ctr"/>
          <a:lstStyle/>
          <a:p>
            <a:pPr algn="ctr" indent="0" marL="0">
              <a:buNone/>
            </a:pPr>
            <a:r>
              <a:rPr lang="en-US" sz="1700" b="1" dirty="0">
                <a:solidFill>
                  <a:srgbClr val="0E5F63"/>
                </a:solidFill>
                <a:latin typeface="Calibri" pitchFamily="34" charset="0"/>
                <a:ea typeface="Calibri" pitchFamily="34" charset="-122"/>
                <a:cs typeface="Calibri" pitchFamily="34" charset="-120"/>
              </a:rPr>
              <a:t>236 de 236 </a:t>
            </a:r>
            <a:pPr algn="ctr" indent="0" marL="0">
              <a:buNone/>
            </a:pPr>
            <a:r>
              <a:rPr lang="en-US" sz="1700" dirty="0">
                <a:solidFill>
                  <a:srgbClr val="4A5D64"/>
                </a:solidFill>
                <a:latin typeface="Calibri" pitchFamily="34" charset="0"/>
                <a:ea typeface="Calibri" pitchFamily="34" charset="-122"/>
                <a:cs typeface="Calibri" pitchFamily="34" charset="-120"/>
              </a:rPr>
              <a:t>prestaciones coinciden     ·     </a:t>
            </a:r>
            <a:pPr algn="ctr" indent="0" marL="0">
              <a:buNone/>
            </a:pPr>
            <a:r>
              <a:rPr lang="en-US" sz="1700" b="1" dirty="0">
                <a:solidFill>
                  <a:srgbClr val="0E5F63"/>
                </a:solidFill>
                <a:latin typeface="Calibri" pitchFamily="34" charset="0"/>
                <a:ea typeface="Calibri" pitchFamily="34" charset="-122"/>
                <a:cs typeface="Calibri" pitchFamily="34" charset="-120"/>
              </a:rPr>
              <a:t>14 de 14 </a:t>
            </a:r>
            <a:pPr algn="ctr" indent="0" marL="0">
              <a:buNone/>
            </a:pPr>
            <a:r>
              <a:rPr lang="en-US" sz="1700" dirty="0">
                <a:solidFill>
                  <a:srgbClr val="4A5D64"/>
                </a:solidFill>
                <a:latin typeface="Calibri" pitchFamily="34" charset="0"/>
                <a:ea typeface="Calibri" pitchFamily="34" charset="-122"/>
                <a:cs typeface="Calibri" pitchFamily="34" charset="-120"/>
              </a:rPr>
              <a:t>estamentos coinciden     ·     diferencia: </a:t>
            </a:r>
            <a:pPr algn="ctr" indent="0" marL="0">
              <a:buNone/>
            </a:pPr>
            <a:r>
              <a:rPr lang="en-US" sz="1700" b="1" dirty="0">
                <a:solidFill>
                  <a:srgbClr val="0E5F63"/>
                </a:solidFill>
                <a:latin typeface="Calibri" pitchFamily="34" charset="0"/>
                <a:ea typeface="Calibri" pitchFamily="34" charset="-122"/>
                <a:cs typeface="Calibri" pitchFamily="34" charset="-120"/>
              </a:rPr>
              <a:t>cero</a:t>
            </a:r>
            <a:endParaRPr lang="en-US" sz="1700" dirty="0"/>
          </a:p>
        </p:txBody>
      </p:sp>
      <p:sp>
        <p:nvSpPr>
          <p:cNvPr id="14" name="Text 12"/>
          <p:cNvSpPr/>
          <p:nvPr/>
        </p:nvSpPr>
        <p:spPr>
          <a:xfrm>
            <a:off x="640080" y="5120640"/>
            <a:ext cx="10881360" cy="365760"/>
          </a:xfrm>
          <a:prstGeom prst="rect">
            <a:avLst/>
          </a:prstGeom>
          <a:noFill/>
          <a:ln/>
        </p:spPr>
        <p:txBody>
          <a:bodyPr wrap="square" rtlCol="0" anchor="ctr"/>
          <a:lstStyle/>
          <a:p>
            <a:pPr algn="ctr" indent="0" marL="0">
              <a:buNone/>
            </a:pPr>
            <a:r>
              <a:rPr lang="en-US" sz="1500" i="1" dirty="0">
                <a:solidFill>
                  <a:srgbClr val="4A5D64"/>
                </a:solidFill>
                <a:latin typeface="Calibri" pitchFamily="34" charset="0"/>
                <a:ea typeface="Calibri" pitchFamily="34" charset="-122"/>
                <a:cs typeface="Calibri" pitchFamily="34" charset="-120"/>
              </a:rPr>
              <a:t>Es el mismo modelo de siempre. Lo único que cambia es que ahora se puede mirar por dentro.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Tres cosas antes de partir</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Si te quedas solo con esto, ya puedes usarla.</a:t>
            </a:r>
            <a:endParaRPr lang="en-US" sz="1500" dirty="0"/>
          </a:p>
        </p:txBody>
      </p:sp>
      <p:sp>
        <p:nvSpPr>
          <p:cNvPr id="4" name="Shape 2"/>
          <p:cNvSpPr/>
          <p:nvPr/>
        </p:nvSpPr>
        <p:spPr>
          <a:xfrm>
            <a:off x="640080" y="1828800"/>
            <a:ext cx="3447288" cy="3200400"/>
          </a:xfrm>
          <a:prstGeom prst="roundRect">
            <a:avLst>
              <a:gd name="adj" fmla="val 2286"/>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Shape 3"/>
          <p:cNvSpPr/>
          <p:nvPr/>
        </p:nvSpPr>
        <p:spPr>
          <a:xfrm>
            <a:off x="960120" y="2148840"/>
            <a:ext cx="685800" cy="685800"/>
          </a:xfrm>
          <a:prstGeom prst="ellipse">
            <a:avLst/>
          </a:prstGeom>
          <a:solidFill>
            <a:srgbClr val="0E5F63"/>
          </a:solidFill>
          <a:ln/>
        </p:spPr>
      </p:sp>
      <p:sp>
        <p:nvSpPr>
          <p:cNvPr id="6" name="Text 4"/>
          <p:cNvSpPr/>
          <p:nvPr/>
        </p:nvSpPr>
        <p:spPr>
          <a:xfrm>
            <a:off x="960120" y="2148840"/>
            <a:ext cx="685800" cy="685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60120" y="3017520"/>
            <a:ext cx="2834640" cy="365760"/>
          </a:xfrm>
          <a:prstGeom prst="rect">
            <a:avLst/>
          </a:prstGeom>
          <a:noFill/>
          <a:ln/>
        </p:spPr>
        <p:txBody>
          <a:bodyPr wrap="square" rtlCol="0" anchor="ctr"/>
          <a:lstStyle/>
          <a:p>
            <a:pPr indent="0" marL="0">
              <a:buNone/>
            </a:pPr>
            <a:r>
              <a:rPr lang="en-US" sz="2000" b="1" dirty="0">
                <a:solidFill>
                  <a:srgbClr val="16262C"/>
                </a:solidFill>
                <a:latin typeface="Cambria" pitchFamily="34" charset="0"/>
                <a:ea typeface="Cambria" pitchFamily="34" charset="-122"/>
                <a:cs typeface="Cambria" pitchFamily="34" charset="-120"/>
              </a:rPr>
              <a:t>No la puedes romper</a:t>
            </a:r>
            <a:endParaRPr lang="en-US" sz="2000" dirty="0"/>
          </a:p>
        </p:txBody>
      </p:sp>
      <p:sp>
        <p:nvSpPr>
          <p:cNvPr id="8" name="Text 6"/>
          <p:cNvSpPr/>
          <p:nvPr/>
        </p:nvSpPr>
        <p:spPr>
          <a:xfrm>
            <a:off x="960120" y="3474720"/>
            <a:ext cx="2834640" cy="1371600"/>
          </a:xfrm>
          <a:prstGeom prst="rect">
            <a:avLst/>
          </a:prstGeom>
          <a:noFill/>
          <a:ln/>
        </p:spPr>
        <p:txBody>
          <a:bodyPr wrap="square" rtlCol="0" anchor="ctr"/>
          <a:lstStyle/>
          <a:p>
            <a:pPr indent="0" marL="0">
              <a:buNone/>
            </a:pPr>
            <a:r>
              <a:rPr lang="en-US" sz="1400" dirty="0">
                <a:solidFill>
                  <a:srgbClr val="4A5D64"/>
                </a:solidFill>
                <a:latin typeface="Calibri" pitchFamily="34" charset="0"/>
                <a:ea typeface="Calibri" pitchFamily="34" charset="-122"/>
                <a:cs typeface="Calibri" pitchFamily="34" charset="-120"/>
              </a:rPr>
              <a:t>No hay fórmulas que dañar. Si algo queda mal, cierras sin guardar y todo vuelve al inicio. Prueba sin miedo.</a:t>
            </a:r>
            <a:endParaRPr lang="en-US" sz="1400" dirty="0"/>
          </a:p>
        </p:txBody>
      </p:sp>
      <p:sp>
        <p:nvSpPr>
          <p:cNvPr id="9" name="Shape 7"/>
          <p:cNvSpPr/>
          <p:nvPr/>
        </p:nvSpPr>
        <p:spPr>
          <a:xfrm>
            <a:off x="4361688" y="1828800"/>
            <a:ext cx="3447288" cy="3200400"/>
          </a:xfrm>
          <a:prstGeom prst="roundRect">
            <a:avLst>
              <a:gd name="adj" fmla="val 2286"/>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0" name="Shape 8"/>
          <p:cNvSpPr/>
          <p:nvPr/>
        </p:nvSpPr>
        <p:spPr>
          <a:xfrm>
            <a:off x="4681728" y="2148840"/>
            <a:ext cx="685800" cy="685800"/>
          </a:xfrm>
          <a:prstGeom prst="ellipse">
            <a:avLst/>
          </a:prstGeom>
          <a:solidFill>
            <a:srgbClr val="0E5F63"/>
          </a:solidFill>
          <a:ln/>
        </p:spPr>
      </p:sp>
      <p:sp>
        <p:nvSpPr>
          <p:cNvPr id="11" name="Text 9"/>
          <p:cNvSpPr/>
          <p:nvPr/>
        </p:nvSpPr>
        <p:spPr>
          <a:xfrm>
            <a:off x="4681728" y="2148840"/>
            <a:ext cx="685800" cy="685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4681728" y="3017520"/>
            <a:ext cx="2834640" cy="365760"/>
          </a:xfrm>
          <a:prstGeom prst="rect">
            <a:avLst/>
          </a:prstGeom>
          <a:noFill/>
          <a:ln/>
        </p:spPr>
        <p:txBody>
          <a:bodyPr wrap="square" rtlCol="0" anchor="ctr"/>
          <a:lstStyle/>
          <a:p>
            <a:pPr indent="0" marL="0">
              <a:buNone/>
            </a:pPr>
            <a:r>
              <a:rPr lang="en-US" sz="2000" b="1" dirty="0">
                <a:solidFill>
                  <a:srgbClr val="16262C"/>
                </a:solidFill>
                <a:latin typeface="Cambria" pitchFamily="34" charset="0"/>
                <a:ea typeface="Cambria" pitchFamily="34" charset="-122"/>
                <a:cs typeface="Cambria" pitchFamily="34" charset="-120"/>
              </a:rPr>
              <a:t>Se recalcula sola</a:t>
            </a:r>
            <a:endParaRPr lang="en-US" sz="2000" dirty="0"/>
          </a:p>
        </p:txBody>
      </p:sp>
      <p:sp>
        <p:nvSpPr>
          <p:cNvPr id="13" name="Text 11"/>
          <p:cNvSpPr/>
          <p:nvPr/>
        </p:nvSpPr>
        <p:spPr>
          <a:xfrm>
            <a:off x="4681728" y="3474720"/>
            <a:ext cx="2834640" cy="1371600"/>
          </a:xfrm>
          <a:prstGeom prst="rect">
            <a:avLst/>
          </a:prstGeom>
          <a:noFill/>
          <a:ln/>
        </p:spPr>
        <p:txBody>
          <a:bodyPr wrap="square" rtlCol="0" anchor="ctr"/>
          <a:lstStyle/>
          <a:p>
            <a:pPr indent="0" marL="0">
              <a:buNone/>
            </a:pPr>
            <a:r>
              <a:rPr lang="en-US" sz="1400" dirty="0">
                <a:solidFill>
                  <a:srgbClr val="4A5D64"/>
                </a:solidFill>
                <a:latin typeface="Calibri" pitchFamily="34" charset="0"/>
                <a:ea typeface="Calibri" pitchFamily="34" charset="-122"/>
                <a:cs typeface="Calibri" pitchFamily="34" charset="-120"/>
              </a:rPr>
              <a:t>Cambias un dato y todo el resto se ajusta al instante. No existe el botón «calcular».</a:t>
            </a:r>
            <a:endParaRPr lang="en-US" sz="1400" dirty="0"/>
          </a:p>
        </p:txBody>
      </p:sp>
      <p:sp>
        <p:nvSpPr>
          <p:cNvPr id="14" name="Shape 12"/>
          <p:cNvSpPr/>
          <p:nvPr/>
        </p:nvSpPr>
        <p:spPr>
          <a:xfrm>
            <a:off x="8083296" y="1828800"/>
            <a:ext cx="3447288" cy="3200400"/>
          </a:xfrm>
          <a:prstGeom prst="roundRect">
            <a:avLst>
              <a:gd name="adj" fmla="val 2286"/>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5" name="Shape 13"/>
          <p:cNvSpPr/>
          <p:nvPr/>
        </p:nvSpPr>
        <p:spPr>
          <a:xfrm>
            <a:off x="8403336" y="2148840"/>
            <a:ext cx="685800" cy="685800"/>
          </a:xfrm>
          <a:prstGeom prst="ellipse">
            <a:avLst/>
          </a:prstGeom>
          <a:solidFill>
            <a:srgbClr val="0E5F63"/>
          </a:solidFill>
          <a:ln/>
        </p:spPr>
      </p:sp>
      <p:sp>
        <p:nvSpPr>
          <p:cNvPr id="16" name="Text 14"/>
          <p:cNvSpPr/>
          <p:nvPr/>
        </p:nvSpPr>
        <p:spPr>
          <a:xfrm>
            <a:off x="8403336" y="2148840"/>
            <a:ext cx="685800" cy="685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8403336" y="3017520"/>
            <a:ext cx="2834640" cy="365760"/>
          </a:xfrm>
          <a:prstGeom prst="rect">
            <a:avLst/>
          </a:prstGeom>
          <a:noFill/>
          <a:ln/>
        </p:spPr>
        <p:txBody>
          <a:bodyPr wrap="square" rtlCol="0" anchor="ctr"/>
          <a:lstStyle/>
          <a:p>
            <a:pPr indent="0" marL="0">
              <a:buNone/>
            </a:pPr>
            <a:r>
              <a:rPr lang="en-US" sz="2000" b="1" dirty="0">
                <a:solidFill>
                  <a:srgbClr val="16262C"/>
                </a:solidFill>
                <a:latin typeface="Cambria" pitchFamily="34" charset="0"/>
                <a:ea typeface="Cambria" pitchFamily="34" charset="-122"/>
                <a:cs typeface="Cambria" pitchFamily="34" charset="-120"/>
              </a:rPr>
              <a:t>Guarda al terminar</a:t>
            </a:r>
            <a:endParaRPr lang="en-US" sz="2000" dirty="0"/>
          </a:p>
        </p:txBody>
      </p:sp>
      <p:sp>
        <p:nvSpPr>
          <p:cNvPr id="18" name="Text 16"/>
          <p:cNvSpPr/>
          <p:nvPr/>
        </p:nvSpPr>
        <p:spPr>
          <a:xfrm>
            <a:off x="8403336" y="3474720"/>
            <a:ext cx="2834640" cy="1371600"/>
          </a:xfrm>
          <a:prstGeom prst="rect">
            <a:avLst/>
          </a:prstGeom>
          <a:noFill/>
          <a:ln/>
        </p:spPr>
        <p:txBody>
          <a:bodyPr wrap="square" rtlCol="0" anchor="ctr"/>
          <a:lstStyle/>
          <a:p>
            <a:pPr indent="0" marL="0">
              <a:buNone/>
            </a:pPr>
            <a:r>
              <a:rPr lang="en-US" sz="1400" dirty="0">
                <a:solidFill>
                  <a:srgbClr val="4A5D64"/>
                </a:solidFill>
                <a:latin typeface="Calibri" pitchFamily="34" charset="0"/>
                <a:ea typeface="Calibri" pitchFamily="34" charset="-122"/>
                <a:cs typeface="Calibri" pitchFamily="34" charset="-120"/>
              </a:rPr>
              <a:t>Botón «Guardar proyecto». Se descarga un archivo: ese archivo es tu trabajo.</a:t>
            </a:r>
            <a:endParaRPr lang="en-US" sz="1400" dirty="0"/>
          </a:p>
        </p:txBody>
      </p:sp>
      <p:sp>
        <p:nvSpPr>
          <p:cNvPr id="19" name="Text 17"/>
          <p:cNvSpPr/>
          <p:nvPr/>
        </p:nvSpPr>
        <p:spPr>
          <a:xfrm>
            <a:off x="640080" y="5349240"/>
            <a:ext cx="10881360" cy="365760"/>
          </a:xfrm>
          <a:prstGeom prst="rect">
            <a:avLst/>
          </a:prstGeom>
          <a:noFill/>
          <a:ln/>
        </p:spPr>
        <p:txBody>
          <a:bodyPr wrap="square" rtlCol="0" anchor="ctr"/>
          <a:lstStyle/>
          <a:p>
            <a:pPr algn="ctr" indent="0" marL="0">
              <a:buNone/>
            </a:pPr>
            <a:r>
              <a:rPr lang="en-US" sz="1500" b="1" dirty="0">
                <a:solidFill>
                  <a:srgbClr val="0B4A4E"/>
                </a:solidFill>
                <a:latin typeface="Calibri" pitchFamily="34" charset="0"/>
                <a:ea typeface="Calibri" pitchFamily="34" charset="-122"/>
                <a:cs typeface="Calibri" pitchFamily="34" charset="-120"/>
              </a:rPr>
              <a:t>Abrir el archivo es hacerle doble clic. Se abre en el navegador, como una página web. No hay que instalar nada.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El camino completo</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El menú está numerado del 00 al 10. Ese es el orden: de arriba hacia abajo.</a:t>
            </a:r>
            <a:endParaRPr lang="en-US" sz="1500" dirty="0"/>
          </a:p>
        </p:txBody>
      </p:sp>
      <p:sp>
        <p:nvSpPr>
          <p:cNvPr id="4" name="Shape 2"/>
          <p:cNvSpPr/>
          <p:nvPr/>
        </p:nvSpPr>
        <p:spPr>
          <a:xfrm>
            <a:off x="640080" y="2103120"/>
            <a:ext cx="1673352" cy="2651760"/>
          </a:xfrm>
          <a:prstGeom prst="roundRect">
            <a:avLst>
              <a:gd name="adj" fmla="val 4372"/>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Shape 3"/>
          <p:cNvSpPr/>
          <p:nvPr/>
        </p:nvSpPr>
        <p:spPr>
          <a:xfrm>
            <a:off x="1188720" y="2331720"/>
            <a:ext cx="566928" cy="566928"/>
          </a:xfrm>
          <a:prstGeom prst="ellipse">
            <a:avLst/>
          </a:prstGeom>
          <a:solidFill>
            <a:srgbClr val="0E5F63"/>
          </a:solidFill>
          <a:ln/>
        </p:spPr>
      </p:sp>
      <p:sp>
        <p:nvSpPr>
          <p:cNvPr id="6" name="Text 4"/>
          <p:cNvSpPr/>
          <p:nvPr/>
        </p:nvSpPr>
        <p:spPr>
          <a:xfrm>
            <a:off x="1188720" y="2331720"/>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p:nvPr/>
        </p:nvSpPr>
        <p:spPr>
          <a:xfrm>
            <a:off x="731520" y="3017520"/>
            <a:ext cx="1490472" cy="320040"/>
          </a:xfrm>
          <a:prstGeom prst="rect">
            <a:avLst/>
          </a:prstGeom>
          <a:noFill/>
          <a:ln/>
        </p:spPr>
        <p:txBody>
          <a:bodyPr wrap="square" rtlCol="0" anchor="ctr"/>
          <a:lstStyle/>
          <a:p>
            <a:pPr algn="ctr" indent="0" marL="0">
              <a:buNone/>
            </a:pPr>
            <a:r>
              <a:rPr lang="en-US" sz="1500" b="1" dirty="0">
                <a:solidFill>
                  <a:srgbClr val="0E5F63"/>
                </a:solidFill>
                <a:latin typeface="Cambria" pitchFamily="34" charset="0"/>
                <a:ea typeface="Cambria" pitchFamily="34" charset="-122"/>
                <a:cs typeface="Cambria" pitchFamily="34" charset="-120"/>
              </a:rPr>
              <a:t>Parámetros</a:t>
            </a:r>
            <a:endParaRPr lang="en-US" sz="1500" dirty="0"/>
          </a:p>
        </p:txBody>
      </p:sp>
      <p:sp>
        <p:nvSpPr>
          <p:cNvPr id="8" name="Text 6"/>
          <p:cNvSpPr/>
          <p:nvPr/>
        </p:nvSpPr>
        <p:spPr>
          <a:xfrm>
            <a:off x="731520" y="3383280"/>
            <a:ext cx="1490472" cy="1097280"/>
          </a:xfrm>
          <a:prstGeom prst="rect">
            <a:avLst/>
          </a:prstGeom>
          <a:noFill/>
          <a:ln/>
        </p:spPr>
        <p:txBody>
          <a:bodyPr wrap="square" rtlCol="0" anchor="ctr"/>
          <a:lstStyle/>
          <a:p>
            <a:pPr algn="ctr" indent="0" marL="0">
              <a:buNone/>
            </a:pPr>
            <a:r>
              <a:rPr lang="en-US" sz="1150" dirty="0">
                <a:solidFill>
                  <a:srgbClr val="4A5D64"/>
                </a:solidFill>
                <a:latin typeface="Calibri" pitchFamily="34" charset="0"/>
                <a:ea typeface="Calibri" pitchFamily="34" charset="-122"/>
                <a:cs typeface="Calibri" pitchFamily="34" charset="-120"/>
              </a:rPr>
              <a:t>Cuántos días</a:t>
            </a:r>
            <a:endParaRPr lang="en-US" sz="1150" dirty="0"/>
          </a:p>
          <a:p>
            <a:pPr algn="ctr" indent="0" marL="0">
              <a:buNone/>
            </a:pPr>
            <a:r>
              <a:rPr lang="en-US" sz="1150" dirty="0">
                <a:solidFill>
                  <a:srgbClr val="4A5D64"/>
                </a:solidFill>
                <a:latin typeface="Calibri" pitchFamily="34" charset="0"/>
                <a:ea typeface="Calibri" pitchFamily="34" charset="-122"/>
                <a:cs typeface="Calibri" pitchFamily="34" charset="-120"/>
              </a:rPr>
              <a:t>vamos a trabajar</a:t>
            </a:r>
            <a:endParaRPr lang="en-US" sz="1150" dirty="0"/>
          </a:p>
        </p:txBody>
      </p:sp>
      <p:sp>
        <p:nvSpPr>
          <p:cNvPr id="9" name="Text 7"/>
          <p:cNvSpPr/>
          <p:nvPr/>
        </p:nvSpPr>
        <p:spPr>
          <a:xfrm>
            <a:off x="2313432" y="3063240"/>
            <a:ext cx="182880" cy="365760"/>
          </a:xfrm>
          <a:prstGeom prst="rect">
            <a:avLst/>
          </a:prstGeom>
          <a:noFill/>
          <a:ln/>
        </p:spPr>
        <p:txBody>
          <a:bodyPr wrap="square" rtlCol="0" anchor="ctr"/>
          <a:lstStyle/>
          <a:p>
            <a:pPr algn="ctr" indent="0" marL="0">
              <a:buNone/>
            </a:pPr>
            <a:r>
              <a:rPr lang="en-US" sz="2200" dirty="0">
                <a:solidFill>
                  <a:srgbClr val="7C8D93"/>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2496312" y="2103120"/>
            <a:ext cx="1673352" cy="2651760"/>
          </a:xfrm>
          <a:prstGeom prst="roundRect">
            <a:avLst>
              <a:gd name="adj" fmla="val 4372"/>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1" name="Shape 9"/>
          <p:cNvSpPr/>
          <p:nvPr/>
        </p:nvSpPr>
        <p:spPr>
          <a:xfrm>
            <a:off x="3044952" y="2331720"/>
            <a:ext cx="566928" cy="566928"/>
          </a:xfrm>
          <a:prstGeom prst="ellipse">
            <a:avLst/>
          </a:prstGeom>
          <a:solidFill>
            <a:srgbClr val="0E5F63"/>
          </a:solidFill>
          <a:ln/>
        </p:spPr>
      </p:sp>
      <p:sp>
        <p:nvSpPr>
          <p:cNvPr id="12" name="Text 10"/>
          <p:cNvSpPr/>
          <p:nvPr/>
        </p:nvSpPr>
        <p:spPr>
          <a:xfrm>
            <a:off x="3044952" y="2331720"/>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3" name="Text 11"/>
          <p:cNvSpPr/>
          <p:nvPr/>
        </p:nvSpPr>
        <p:spPr>
          <a:xfrm>
            <a:off x="2587752" y="3017520"/>
            <a:ext cx="1490472" cy="320040"/>
          </a:xfrm>
          <a:prstGeom prst="rect">
            <a:avLst/>
          </a:prstGeom>
          <a:noFill/>
          <a:ln/>
        </p:spPr>
        <p:txBody>
          <a:bodyPr wrap="square" rtlCol="0" anchor="ctr"/>
          <a:lstStyle/>
          <a:p>
            <a:pPr algn="ctr" indent="0" marL="0">
              <a:buNone/>
            </a:pPr>
            <a:r>
              <a:rPr lang="en-US" sz="1500" b="1" dirty="0">
                <a:solidFill>
                  <a:srgbClr val="0E5F63"/>
                </a:solidFill>
                <a:latin typeface="Cambria" pitchFamily="34" charset="0"/>
                <a:ea typeface="Cambria" pitchFamily="34" charset="-122"/>
                <a:cs typeface="Cambria" pitchFamily="34" charset="-120"/>
              </a:rPr>
              <a:t>Población</a:t>
            </a:r>
            <a:endParaRPr lang="en-US" sz="1500" dirty="0"/>
          </a:p>
        </p:txBody>
      </p:sp>
      <p:sp>
        <p:nvSpPr>
          <p:cNvPr id="14" name="Text 12"/>
          <p:cNvSpPr/>
          <p:nvPr/>
        </p:nvSpPr>
        <p:spPr>
          <a:xfrm>
            <a:off x="2587752" y="3383280"/>
            <a:ext cx="1490472" cy="1097280"/>
          </a:xfrm>
          <a:prstGeom prst="rect">
            <a:avLst/>
          </a:prstGeom>
          <a:noFill/>
          <a:ln/>
        </p:spPr>
        <p:txBody>
          <a:bodyPr wrap="square" rtlCol="0" anchor="ctr"/>
          <a:lstStyle/>
          <a:p>
            <a:pPr algn="ctr" indent="0" marL="0">
              <a:buNone/>
            </a:pPr>
            <a:r>
              <a:rPr lang="en-US" sz="1150" dirty="0">
                <a:solidFill>
                  <a:srgbClr val="4A5D64"/>
                </a:solidFill>
                <a:latin typeface="Calibri" pitchFamily="34" charset="0"/>
                <a:ea typeface="Calibri" pitchFamily="34" charset="-122"/>
                <a:cs typeface="Calibri" pitchFamily="34" charset="-120"/>
              </a:rPr>
              <a:t>A cuánta gente</a:t>
            </a:r>
            <a:endParaRPr lang="en-US" sz="1150" dirty="0"/>
          </a:p>
          <a:p>
            <a:pPr algn="ctr" indent="0" marL="0">
              <a:buNone/>
            </a:pPr>
            <a:r>
              <a:rPr lang="en-US" sz="1150" dirty="0">
                <a:solidFill>
                  <a:srgbClr val="4A5D64"/>
                </a:solidFill>
                <a:latin typeface="Calibri" pitchFamily="34" charset="0"/>
                <a:ea typeface="Calibri" pitchFamily="34" charset="-122"/>
                <a:cs typeface="Calibri" pitchFamily="34" charset="-120"/>
              </a:rPr>
              <a:t>tenemos que atender</a:t>
            </a:r>
            <a:endParaRPr lang="en-US" sz="1150" dirty="0"/>
          </a:p>
        </p:txBody>
      </p:sp>
      <p:sp>
        <p:nvSpPr>
          <p:cNvPr id="15" name="Text 13"/>
          <p:cNvSpPr/>
          <p:nvPr/>
        </p:nvSpPr>
        <p:spPr>
          <a:xfrm>
            <a:off x="4169664" y="3063240"/>
            <a:ext cx="182880" cy="365760"/>
          </a:xfrm>
          <a:prstGeom prst="rect">
            <a:avLst/>
          </a:prstGeom>
          <a:noFill/>
          <a:ln/>
        </p:spPr>
        <p:txBody>
          <a:bodyPr wrap="square" rtlCol="0" anchor="ctr"/>
          <a:lstStyle/>
          <a:p>
            <a:pPr algn="ctr" indent="0" marL="0">
              <a:buNone/>
            </a:pPr>
            <a:r>
              <a:rPr lang="en-US" sz="2200" dirty="0">
                <a:solidFill>
                  <a:srgbClr val="7C8D93"/>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4352544" y="2103120"/>
            <a:ext cx="1673352" cy="2651760"/>
          </a:xfrm>
          <a:prstGeom prst="roundRect">
            <a:avLst>
              <a:gd name="adj" fmla="val 4372"/>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7" name="Shape 15"/>
          <p:cNvSpPr/>
          <p:nvPr/>
        </p:nvSpPr>
        <p:spPr>
          <a:xfrm>
            <a:off x="4901184" y="2331720"/>
            <a:ext cx="566928" cy="566928"/>
          </a:xfrm>
          <a:prstGeom prst="ellipse">
            <a:avLst/>
          </a:prstGeom>
          <a:solidFill>
            <a:srgbClr val="0E5F63"/>
          </a:solidFill>
          <a:ln/>
        </p:spPr>
      </p:sp>
      <p:sp>
        <p:nvSpPr>
          <p:cNvPr id="18" name="Text 16"/>
          <p:cNvSpPr/>
          <p:nvPr/>
        </p:nvSpPr>
        <p:spPr>
          <a:xfrm>
            <a:off x="4901184" y="2331720"/>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9" name="Text 17"/>
          <p:cNvSpPr/>
          <p:nvPr/>
        </p:nvSpPr>
        <p:spPr>
          <a:xfrm>
            <a:off x="4443984" y="3017520"/>
            <a:ext cx="1490472" cy="320040"/>
          </a:xfrm>
          <a:prstGeom prst="rect">
            <a:avLst/>
          </a:prstGeom>
          <a:noFill/>
          <a:ln/>
        </p:spPr>
        <p:txBody>
          <a:bodyPr wrap="square" rtlCol="0" anchor="ctr"/>
          <a:lstStyle/>
          <a:p>
            <a:pPr algn="ctr" indent="0" marL="0">
              <a:buNone/>
            </a:pPr>
            <a:r>
              <a:rPr lang="en-US" sz="1500" b="1" dirty="0">
                <a:solidFill>
                  <a:srgbClr val="0E5F63"/>
                </a:solidFill>
                <a:latin typeface="Cambria" pitchFamily="34" charset="0"/>
                <a:ea typeface="Cambria" pitchFamily="34" charset="-122"/>
                <a:cs typeface="Cambria" pitchFamily="34" charset="-120"/>
              </a:rPr>
              <a:t>Equipo</a:t>
            </a:r>
            <a:endParaRPr lang="en-US" sz="1500" dirty="0"/>
          </a:p>
        </p:txBody>
      </p:sp>
      <p:sp>
        <p:nvSpPr>
          <p:cNvPr id="20" name="Text 18"/>
          <p:cNvSpPr/>
          <p:nvPr/>
        </p:nvSpPr>
        <p:spPr>
          <a:xfrm>
            <a:off x="4443984" y="3383280"/>
            <a:ext cx="1490472" cy="1097280"/>
          </a:xfrm>
          <a:prstGeom prst="rect">
            <a:avLst/>
          </a:prstGeom>
          <a:noFill/>
          <a:ln/>
        </p:spPr>
        <p:txBody>
          <a:bodyPr wrap="square" rtlCol="0" anchor="ctr"/>
          <a:lstStyle/>
          <a:p>
            <a:pPr algn="ctr" indent="0" marL="0">
              <a:buNone/>
            </a:pPr>
            <a:r>
              <a:rPr lang="en-US" sz="1150" dirty="0">
                <a:solidFill>
                  <a:srgbClr val="4A5D64"/>
                </a:solidFill>
                <a:latin typeface="Calibri" pitchFamily="34" charset="0"/>
                <a:ea typeface="Calibri" pitchFamily="34" charset="-122"/>
                <a:cs typeface="Calibri" pitchFamily="34" charset="-120"/>
              </a:rPr>
              <a:t>Cuántas horas</a:t>
            </a:r>
            <a:endParaRPr lang="en-US" sz="1150" dirty="0"/>
          </a:p>
          <a:p>
            <a:pPr algn="ctr" indent="0" marL="0">
              <a:buNone/>
            </a:pPr>
            <a:r>
              <a:rPr lang="en-US" sz="1150" dirty="0">
                <a:solidFill>
                  <a:srgbClr val="4A5D64"/>
                </a:solidFill>
                <a:latin typeface="Calibri" pitchFamily="34" charset="0"/>
                <a:ea typeface="Calibri" pitchFamily="34" charset="-122"/>
                <a:cs typeface="Calibri" pitchFamily="34" charset="-120"/>
              </a:rPr>
              <a:t>reales tenemos</a:t>
            </a:r>
            <a:endParaRPr lang="en-US" sz="1150" dirty="0"/>
          </a:p>
        </p:txBody>
      </p:sp>
      <p:sp>
        <p:nvSpPr>
          <p:cNvPr id="21" name="Text 19"/>
          <p:cNvSpPr/>
          <p:nvPr/>
        </p:nvSpPr>
        <p:spPr>
          <a:xfrm>
            <a:off x="6025896" y="3063240"/>
            <a:ext cx="182880" cy="365760"/>
          </a:xfrm>
          <a:prstGeom prst="rect">
            <a:avLst/>
          </a:prstGeom>
          <a:noFill/>
          <a:ln/>
        </p:spPr>
        <p:txBody>
          <a:bodyPr wrap="square" rtlCol="0" anchor="ctr"/>
          <a:lstStyle/>
          <a:p>
            <a:pPr algn="ctr" indent="0" marL="0">
              <a:buNone/>
            </a:pPr>
            <a:r>
              <a:rPr lang="en-US" sz="2200" dirty="0">
                <a:solidFill>
                  <a:srgbClr val="7C8D93"/>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6208776" y="2103120"/>
            <a:ext cx="1673352" cy="2651760"/>
          </a:xfrm>
          <a:prstGeom prst="roundRect">
            <a:avLst>
              <a:gd name="adj" fmla="val 4372"/>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23" name="Shape 21"/>
          <p:cNvSpPr/>
          <p:nvPr/>
        </p:nvSpPr>
        <p:spPr>
          <a:xfrm>
            <a:off x="6757416" y="2331720"/>
            <a:ext cx="566928" cy="566928"/>
          </a:xfrm>
          <a:prstGeom prst="ellipse">
            <a:avLst/>
          </a:prstGeom>
          <a:solidFill>
            <a:srgbClr val="0E5F63"/>
          </a:solidFill>
          <a:ln/>
        </p:spPr>
      </p:sp>
      <p:sp>
        <p:nvSpPr>
          <p:cNvPr id="24" name="Text 22"/>
          <p:cNvSpPr/>
          <p:nvPr/>
        </p:nvSpPr>
        <p:spPr>
          <a:xfrm>
            <a:off x="6757416" y="2331720"/>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25" name="Text 23"/>
          <p:cNvSpPr/>
          <p:nvPr/>
        </p:nvSpPr>
        <p:spPr>
          <a:xfrm>
            <a:off x="6300216" y="3017520"/>
            <a:ext cx="1490472" cy="320040"/>
          </a:xfrm>
          <a:prstGeom prst="rect">
            <a:avLst/>
          </a:prstGeom>
          <a:noFill/>
          <a:ln/>
        </p:spPr>
        <p:txBody>
          <a:bodyPr wrap="square" rtlCol="0" anchor="ctr"/>
          <a:lstStyle/>
          <a:p>
            <a:pPr algn="ctr" indent="0" marL="0">
              <a:buNone/>
            </a:pPr>
            <a:r>
              <a:rPr lang="en-US" sz="1500" b="1" dirty="0">
                <a:solidFill>
                  <a:srgbClr val="0E5F63"/>
                </a:solidFill>
                <a:latin typeface="Cambria" pitchFamily="34" charset="0"/>
                <a:ea typeface="Cambria" pitchFamily="34" charset="-122"/>
                <a:cs typeface="Cambria" pitchFamily="34" charset="-120"/>
              </a:rPr>
              <a:t>Cartera</a:t>
            </a:r>
            <a:endParaRPr lang="en-US" sz="1500" dirty="0"/>
          </a:p>
        </p:txBody>
      </p:sp>
      <p:sp>
        <p:nvSpPr>
          <p:cNvPr id="26" name="Text 24"/>
          <p:cNvSpPr/>
          <p:nvPr/>
        </p:nvSpPr>
        <p:spPr>
          <a:xfrm>
            <a:off x="6300216" y="3383280"/>
            <a:ext cx="1490472" cy="1097280"/>
          </a:xfrm>
          <a:prstGeom prst="rect">
            <a:avLst/>
          </a:prstGeom>
          <a:noFill/>
          <a:ln/>
        </p:spPr>
        <p:txBody>
          <a:bodyPr wrap="square" rtlCol="0" anchor="ctr"/>
          <a:lstStyle/>
          <a:p>
            <a:pPr algn="ctr" indent="0" marL="0">
              <a:buNone/>
            </a:pPr>
            <a:r>
              <a:rPr lang="en-US" sz="1150" dirty="0">
                <a:solidFill>
                  <a:srgbClr val="4A5D64"/>
                </a:solidFill>
                <a:latin typeface="Calibri" pitchFamily="34" charset="0"/>
                <a:ea typeface="Calibri" pitchFamily="34" charset="-122"/>
                <a:cs typeface="Calibri" pitchFamily="34" charset="-120"/>
              </a:rPr>
              <a:t>Qué nos</a:t>
            </a:r>
            <a:endParaRPr lang="en-US" sz="1150" dirty="0"/>
          </a:p>
          <a:p>
            <a:pPr algn="ctr" indent="0" marL="0">
              <a:buNone/>
            </a:pPr>
            <a:r>
              <a:rPr lang="en-US" sz="1150" dirty="0">
                <a:solidFill>
                  <a:srgbClr val="4A5D64"/>
                </a:solidFill>
                <a:latin typeface="Calibri" pitchFamily="34" charset="0"/>
                <a:ea typeface="Calibri" pitchFamily="34" charset="-122"/>
                <a:cs typeface="Calibri" pitchFamily="34" charset="-120"/>
              </a:rPr>
              <a:t>comprometemos a hacer</a:t>
            </a:r>
            <a:endParaRPr lang="en-US" sz="1150" dirty="0"/>
          </a:p>
        </p:txBody>
      </p:sp>
      <p:sp>
        <p:nvSpPr>
          <p:cNvPr id="27" name="Text 25"/>
          <p:cNvSpPr/>
          <p:nvPr/>
        </p:nvSpPr>
        <p:spPr>
          <a:xfrm>
            <a:off x="7882128" y="3063240"/>
            <a:ext cx="182880" cy="365760"/>
          </a:xfrm>
          <a:prstGeom prst="rect">
            <a:avLst/>
          </a:prstGeom>
          <a:noFill/>
          <a:ln/>
        </p:spPr>
        <p:txBody>
          <a:bodyPr wrap="square" rtlCol="0" anchor="ctr"/>
          <a:lstStyle/>
          <a:p>
            <a:pPr algn="ctr" indent="0" marL="0">
              <a:buNone/>
            </a:pPr>
            <a:r>
              <a:rPr lang="en-US" sz="2200" dirty="0">
                <a:solidFill>
                  <a:srgbClr val="7C8D93"/>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8065008" y="2103120"/>
            <a:ext cx="1673352" cy="2651760"/>
          </a:xfrm>
          <a:prstGeom prst="roundRect">
            <a:avLst>
              <a:gd name="adj" fmla="val 4372"/>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29" name="Shape 27"/>
          <p:cNvSpPr/>
          <p:nvPr/>
        </p:nvSpPr>
        <p:spPr>
          <a:xfrm>
            <a:off x="8613648" y="2331720"/>
            <a:ext cx="566928" cy="566928"/>
          </a:xfrm>
          <a:prstGeom prst="ellipse">
            <a:avLst/>
          </a:prstGeom>
          <a:solidFill>
            <a:srgbClr val="0E5F63"/>
          </a:solidFill>
          <a:ln/>
        </p:spPr>
      </p:sp>
      <p:sp>
        <p:nvSpPr>
          <p:cNvPr id="30" name="Text 28"/>
          <p:cNvSpPr/>
          <p:nvPr/>
        </p:nvSpPr>
        <p:spPr>
          <a:xfrm>
            <a:off x="8613648" y="2331720"/>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31" name="Text 29"/>
          <p:cNvSpPr/>
          <p:nvPr/>
        </p:nvSpPr>
        <p:spPr>
          <a:xfrm>
            <a:off x="8156448" y="3017520"/>
            <a:ext cx="1490472" cy="320040"/>
          </a:xfrm>
          <a:prstGeom prst="rect">
            <a:avLst/>
          </a:prstGeom>
          <a:noFill/>
          <a:ln/>
        </p:spPr>
        <p:txBody>
          <a:bodyPr wrap="square" rtlCol="0" anchor="ctr"/>
          <a:lstStyle/>
          <a:p>
            <a:pPr algn="ctr" indent="0" marL="0">
              <a:buNone/>
            </a:pPr>
            <a:r>
              <a:rPr lang="en-US" sz="1500" b="1" dirty="0">
                <a:solidFill>
                  <a:srgbClr val="B3372F"/>
                </a:solidFill>
                <a:latin typeface="Cambria" pitchFamily="34" charset="0"/>
                <a:ea typeface="Cambria" pitchFamily="34" charset="-122"/>
                <a:cs typeface="Cambria" pitchFamily="34" charset="-120"/>
              </a:rPr>
              <a:t>Resultados</a:t>
            </a:r>
            <a:endParaRPr lang="en-US" sz="1500" dirty="0"/>
          </a:p>
        </p:txBody>
      </p:sp>
      <p:sp>
        <p:nvSpPr>
          <p:cNvPr id="32" name="Text 30"/>
          <p:cNvSpPr/>
          <p:nvPr/>
        </p:nvSpPr>
        <p:spPr>
          <a:xfrm>
            <a:off x="8156448" y="3383280"/>
            <a:ext cx="1490472" cy="1097280"/>
          </a:xfrm>
          <a:prstGeom prst="rect">
            <a:avLst/>
          </a:prstGeom>
          <a:noFill/>
          <a:ln/>
        </p:spPr>
        <p:txBody>
          <a:bodyPr wrap="square" rtlCol="0" anchor="ctr"/>
          <a:lstStyle/>
          <a:p>
            <a:pPr algn="ctr" indent="0" marL="0">
              <a:buNone/>
            </a:pPr>
            <a:r>
              <a:rPr lang="en-US" sz="1150" dirty="0">
                <a:solidFill>
                  <a:srgbClr val="4A5D64"/>
                </a:solidFill>
                <a:latin typeface="Calibri" pitchFamily="34" charset="0"/>
                <a:ea typeface="Calibri" pitchFamily="34" charset="-122"/>
                <a:cs typeface="Calibri" pitchFamily="34" charset="-120"/>
              </a:rPr>
              <a:t>¿Alcanza</a:t>
            </a:r>
            <a:endParaRPr lang="en-US" sz="1150" dirty="0"/>
          </a:p>
          <a:p>
            <a:pPr algn="ctr" indent="0" marL="0">
              <a:buNone/>
            </a:pPr>
            <a:r>
              <a:rPr lang="en-US" sz="1150" dirty="0">
                <a:solidFill>
                  <a:srgbClr val="4A5D64"/>
                </a:solidFill>
                <a:latin typeface="Calibri" pitchFamily="34" charset="0"/>
                <a:ea typeface="Calibri" pitchFamily="34" charset="-122"/>
                <a:cs typeface="Calibri" pitchFamily="34" charset="-120"/>
              </a:rPr>
              <a:t>o no alcanza?</a:t>
            </a:r>
            <a:endParaRPr lang="en-US" sz="1150" dirty="0"/>
          </a:p>
        </p:txBody>
      </p:sp>
      <p:sp>
        <p:nvSpPr>
          <p:cNvPr id="33" name="Text 31"/>
          <p:cNvSpPr/>
          <p:nvPr/>
        </p:nvSpPr>
        <p:spPr>
          <a:xfrm>
            <a:off x="9738360" y="3063240"/>
            <a:ext cx="182880" cy="365760"/>
          </a:xfrm>
          <a:prstGeom prst="rect">
            <a:avLst/>
          </a:prstGeom>
          <a:noFill/>
          <a:ln/>
        </p:spPr>
        <p:txBody>
          <a:bodyPr wrap="square" rtlCol="0" anchor="ctr"/>
          <a:lstStyle/>
          <a:p>
            <a:pPr algn="ctr" indent="0" marL="0">
              <a:buNone/>
            </a:pPr>
            <a:r>
              <a:rPr lang="en-US" sz="2200" dirty="0">
                <a:solidFill>
                  <a:srgbClr val="7C8D93"/>
                </a:solidFill>
                <a:latin typeface="Calibri" pitchFamily="34" charset="0"/>
                <a:ea typeface="Calibri" pitchFamily="34" charset="-122"/>
                <a:cs typeface="Calibri" pitchFamily="34" charset="-120"/>
              </a:rPr>
              <a:t>›</a:t>
            </a:r>
            <a:endParaRPr lang="en-US" sz="2200" dirty="0"/>
          </a:p>
        </p:txBody>
      </p:sp>
      <p:sp>
        <p:nvSpPr>
          <p:cNvPr id="34" name="Shape 32"/>
          <p:cNvSpPr/>
          <p:nvPr/>
        </p:nvSpPr>
        <p:spPr>
          <a:xfrm>
            <a:off x="9921240" y="2103120"/>
            <a:ext cx="1673352" cy="2651760"/>
          </a:xfrm>
          <a:prstGeom prst="roundRect">
            <a:avLst>
              <a:gd name="adj" fmla="val 4372"/>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35" name="Shape 33"/>
          <p:cNvSpPr/>
          <p:nvPr/>
        </p:nvSpPr>
        <p:spPr>
          <a:xfrm>
            <a:off x="10469880" y="2331720"/>
            <a:ext cx="566928" cy="566928"/>
          </a:xfrm>
          <a:prstGeom prst="ellipse">
            <a:avLst/>
          </a:prstGeom>
          <a:solidFill>
            <a:srgbClr val="0E5F63"/>
          </a:solidFill>
          <a:ln/>
        </p:spPr>
      </p:sp>
      <p:sp>
        <p:nvSpPr>
          <p:cNvPr id="36" name="Text 34"/>
          <p:cNvSpPr/>
          <p:nvPr/>
        </p:nvSpPr>
        <p:spPr>
          <a:xfrm>
            <a:off x="10469880" y="2331720"/>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37" name="Text 35"/>
          <p:cNvSpPr/>
          <p:nvPr/>
        </p:nvSpPr>
        <p:spPr>
          <a:xfrm>
            <a:off x="10012680" y="3017520"/>
            <a:ext cx="1490472" cy="320040"/>
          </a:xfrm>
          <a:prstGeom prst="rect">
            <a:avLst/>
          </a:prstGeom>
          <a:noFill/>
          <a:ln/>
        </p:spPr>
        <p:txBody>
          <a:bodyPr wrap="square" rtlCol="0" anchor="ctr"/>
          <a:lstStyle/>
          <a:p>
            <a:pPr algn="ctr" indent="0" marL="0">
              <a:buNone/>
            </a:pPr>
            <a:r>
              <a:rPr lang="en-US" sz="1500" b="1" dirty="0">
                <a:solidFill>
                  <a:srgbClr val="1E7B4F"/>
                </a:solidFill>
                <a:latin typeface="Cambria" pitchFamily="34" charset="0"/>
                <a:ea typeface="Cambria" pitchFamily="34" charset="-122"/>
                <a:cs typeface="Cambria" pitchFamily="34" charset="-120"/>
              </a:rPr>
              <a:t>Informe</a:t>
            </a:r>
            <a:endParaRPr lang="en-US" sz="1500" dirty="0"/>
          </a:p>
        </p:txBody>
      </p:sp>
      <p:sp>
        <p:nvSpPr>
          <p:cNvPr id="38" name="Text 36"/>
          <p:cNvSpPr/>
          <p:nvPr/>
        </p:nvSpPr>
        <p:spPr>
          <a:xfrm>
            <a:off x="10012680" y="3383280"/>
            <a:ext cx="1490472" cy="1097280"/>
          </a:xfrm>
          <a:prstGeom prst="rect">
            <a:avLst/>
          </a:prstGeom>
          <a:noFill/>
          <a:ln/>
        </p:spPr>
        <p:txBody>
          <a:bodyPr wrap="square" rtlCol="0" anchor="ctr"/>
          <a:lstStyle/>
          <a:p>
            <a:pPr algn="ctr" indent="0" marL="0">
              <a:buNone/>
            </a:pPr>
            <a:r>
              <a:rPr lang="en-US" sz="1150" dirty="0">
                <a:solidFill>
                  <a:srgbClr val="4A5D64"/>
                </a:solidFill>
                <a:latin typeface="Calibri" pitchFamily="34" charset="0"/>
                <a:ea typeface="Calibri" pitchFamily="34" charset="-122"/>
                <a:cs typeface="Calibri" pitchFamily="34" charset="-120"/>
              </a:rPr>
              <a:t>Para llevarlo</a:t>
            </a:r>
            <a:endParaRPr lang="en-US" sz="1150" dirty="0"/>
          </a:p>
          <a:p>
            <a:pPr algn="ctr" indent="0" marL="0">
              <a:buNone/>
            </a:pPr>
            <a:r>
              <a:rPr lang="en-US" sz="1150" dirty="0">
                <a:solidFill>
                  <a:srgbClr val="4A5D64"/>
                </a:solidFill>
                <a:latin typeface="Calibri" pitchFamily="34" charset="0"/>
                <a:ea typeface="Calibri" pitchFamily="34" charset="-122"/>
                <a:cs typeface="Calibri" pitchFamily="34" charset="-120"/>
              </a:rPr>
              <a:t>a la reunión</a:t>
            </a:r>
            <a:endParaRPr lang="en-US" sz="1150" dirty="0"/>
          </a:p>
        </p:txBody>
      </p:sp>
      <p:sp>
        <p:nvSpPr>
          <p:cNvPr id="39" name="Text 37"/>
          <p:cNvSpPr/>
          <p:nvPr/>
        </p:nvSpPr>
        <p:spPr>
          <a:xfrm>
            <a:off x="640080" y="5120640"/>
            <a:ext cx="10881360" cy="365760"/>
          </a:xfrm>
          <a:prstGeom prst="rect">
            <a:avLst/>
          </a:prstGeom>
          <a:noFill/>
          <a:ln/>
        </p:spPr>
        <p:txBody>
          <a:bodyPr wrap="square" rtlCol="0" anchor="ctr"/>
          <a:lstStyle/>
          <a:p>
            <a:pPr algn="ctr" indent="0" marL="0">
              <a:buNone/>
            </a:pPr>
            <a:r>
              <a:rPr lang="en-US" sz="1500" i="1" dirty="0">
                <a:solidFill>
                  <a:srgbClr val="4A5D64"/>
                </a:solidFill>
                <a:latin typeface="Calibri" pitchFamily="34" charset="0"/>
                <a:ea typeface="Calibri" pitchFamily="34" charset="-122"/>
                <a:cs typeface="Calibri" pitchFamily="34" charset="-120"/>
              </a:rPr>
              <a:t>Es la misma historia de siempre: la gente que tenemos → el equipo que tenemos → lo que prometemos hacer → si nos da el cuero.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Primero: el tiempo y la gente</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Los dos datos de los que depende todo lo demás.</a:t>
            </a:r>
            <a:endParaRPr lang="en-US" sz="1500" dirty="0"/>
          </a:p>
        </p:txBody>
      </p:sp>
      <p:sp>
        <p:nvSpPr>
          <p:cNvPr id="4" name="Shape 2"/>
          <p:cNvSpPr/>
          <p:nvPr/>
        </p:nvSpPr>
        <p:spPr>
          <a:xfrm>
            <a:off x="640080" y="1783080"/>
            <a:ext cx="5257800" cy="3931920"/>
          </a:xfrm>
          <a:prstGeom prst="roundRect">
            <a:avLst>
              <a:gd name="adj" fmla="val 1860"/>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Shape 3"/>
          <p:cNvSpPr/>
          <p:nvPr/>
        </p:nvSpPr>
        <p:spPr>
          <a:xfrm>
            <a:off x="960120" y="2011680"/>
            <a:ext cx="640080" cy="640080"/>
          </a:xfrm>
          <a:prstGeom prst="ellipse">
            <a:avLst/>
          </a:prstGeom>
          <a:solidFill>
            <a:srgbClr val="0E5F63"/>
          </a:solidFill>
          <a:ln/>
        </p:spPr>
      </p:sp>
      <p:sp>
        <p:nvSpPr>
          <p:cNvPr id="6" name="Text 4"/>
          <p:cNvSpPr/>
          <p:nvPr/>
        </p:nvSpPr>
        <p:spPr>
          <a:xfrm>
            <a:off x="960120" y="2011680"/>
            <a:ext cx="64008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p:nvPr/>
        </p:nvSpPr>
        <p:spPr>
          <a:xfrm>
            <a:off x="1783080" y="2121408"/>
            <a:ext cx="3657600" cy="411480"/>
          </a:xfrm>
          <a:prstGeom prst="rect">
            <a:avLst/>
          </a:prstGeom>
          <a:noFill/>
          <a:ln/>
        </p:spPr>
        <p:txBody>
          <a:bodyPr wrap="square" rtlCol="0" anchor="ctr"/>
          <a:lstStyle/>
          <a:p>
            <a:pPr indent="0" marL="0">
              <a:buNone/>
            </a:pPr>
            <a:r>
              <a:rPr lang="en-US" sz="2400" b="1" dirty="0">
                <a:solidFill>
                  <a:srgbClr val="16262C"/>
                </a:solidFill>
                <a:latin typeface="Cambria" pitchFamily="34" charset="0"/>
                <a:ea typeface="Cambria" pitchFamily="34" charset="-122"/>
                <a:cs typeface="Cambria" pitchFamily="34" charset="-120"/>
              </a:rPr>
              <a:t>Parámetros</a:t>
            </a:r>
            <a:endParaRPr lang="en-US" sz="2400" dirty="0"/>
          </a:p>
        </p:txBody>
      </p:sp>
      <p:sp>
        <p:nvSpPr>
          <p:cNvPr id="8" name="Text 6"/>
          <p:cNvSpPr/>
          <p:nvPr/>
        </p:nvSpPr>
        <p:spPr>
          <a:xfrm>
            <a:off x="960120" y="2880360"/>
            <a:ext cx="4663440" cy="1280160"/>
          </a:xfrm>
          <a:prstGeom prst="rect">
            <a:avLst/>
          </a:prstGeom>
          <a:noFill/>
          <a:ln/>
        </p:spPr>
        <p:txBody>
          <a:bodyPr wrap="square" rtlCol="0" anchor="ctr"/>
          <a:lstStyle/>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Nombre del centro y año a programar</a:t>
            </a:r>
            <a:endParaRPr lang="en-US" sz="1450" dirty="0"/>
          </a:p>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Días hábiles, menos vacaciones, PAC y permisos</a:t>
            </a:r>
            <a:endParaRPr lang="en-US" sz="1450" dirty="0"/>
          </a:p>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La app te muestra los días y semanas reales</a:t>
            </a:r>
            <a:endParaRPr lang="en-US" sz="1450" dirty="0"/>
          </a:p>
        </p:txBody>
      </p:sp>
      <p:sp>
        <p:nvSpPr>
          <p:cNvPr id="9" name="Shape 7"/>
          <p:cNvSpPr/>
          <p:nvPr/>
        </p:nvSpPr>
        <p:spPr>
          <a:xfrm>
            <a:off x="960120" y="4251960"/>
            <a:ext cx="4663440" cy="1234440"/>
          </a:xfrm>
          <a:prstGeom prst="roundRect">
            <a:avLst>
              <a:gd name="adj" fmla="val 4444"/>
            </a:avLst>
          </a:prstGeom>
          <a:solidFill>
            <a:srgbClr val="FBF1DC"/>
          </a:solidFill>
          <a:ln/>
        </p:spPr>
      </p:sp>
      <p:sp>
        <p:nvSpPr>
          <p:cNvPr id="10" name="Text 8"/>
          <p:cNvSpPr/>
          <p:nvPr/>
        </p:nvSpPr>
        <p:spPr>
          <a:xfrm>
            <a:off x="1143000" y="4389120"/>
            <a:ext cx="4297680" cy="1005840"/>
          </a:xfrm>
          <a:prstGeom prst="rect">
            <a:avLst/>
          </a:prstGeom>
          <a:noFill/>
          <a:ln/>
        </p:spPr>
        <p:txBody>
          <a:bodyPr wrap="square" rtlCol="0" anchor="ctr"/>
          <a:lstStyle/>
          <a:p>
            <a:pPr indent="0" marL="0">
              <a:buNone/>
            </a:pPr>
            <a:r>
              <a:rPr lang="en-US" sz="1300" b="1" dirty="0">
                <a:solidFill>
                  <a:srgbClr val="B47714"/>
                </a:solidFill>
                <a:latin typeface="Calibri" pitchFamily="34" charset="0"/>
                <a:ea typeface="Calibri" pitchFamily="34" charset="-122"/>
                <a:cs typeface="Calibri" pitchFamily="34" charset="-120"/>
              </a:rPr>
              <a:t>Ojo con el ausentismo. </a:t>
            </a:r>
            <a:pPr indent="0" marL="0">
              <a:buNone/>
            </a:pPr>
            <a:r>
              <a:rPr lang="en-US" sz="1300" dirty="0">
                <a:solidFill>
                  <a:srgbClr val="4A5D64"/>
                </a:solidFill>
                <a:latin typeface="Calibri" pitchFamily="34" charset="0"/>
                <a:ea typeface="Calibri" pitchFamily="34" charset="-122"/>
                <a:cs typeface="Calibri" pitchFamily="34" charset="-120"/>
              </a:rPr>
              <a:t>Viene en 8 %: son las horas que se pierden por licencias e imprevistos. Si lo dejas en 0, la app te dirá que tienes más horas de las que vas a tener.</a:t>
            </a:r>
            <a:endParaRPr lang="en-US" sz="1300" dirty="0"/>
          </a:p>
        </p:txBody>
      </p:sp>
      <p:sp>
        <p:nvSpPr>
          <p:cNvPr id="11" name="Shape 9"/>
          <p:cNvSpPr/>
          <p:nvPr/>
        </p:nvSpPr>
        <p:spPr>
          <a:xfrm>
            <a:off x="6263640" y="1783080"/>
            <a:ext cx="5257800" cy="3931920"/>
          </a:xfrm>
          <a:prstGeom prst="roundRect">
            <a:avLst>
              <a:gd name="adj" fmla="val 1860"/>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2" name="Shape 10"/>
          <p:cNvSpPr/>
          <p:nvPr/>
        </p:nvSpPr>
        <p:spPr>
          <a:xfrm>
            <a:off x="6583680" y="2011680"/>
            <a:ext cx="640080" cy="640080"/>
          </a:xfrm>
          <a:prstGeom prst="ellipse">
            <a:avLst/>
          </a:prstGeom>
          <a:solidFill>
            <a:srgbClr val="0E5F63"/>
          </a:solidFill>
          <a:ln/>
        </p:spPr>
      </p:sp>
      <p:sp>
        <p:nvSpPr>
          <p:cNvPr id="13" name="Text 11"/>
          <p:cNvSpPr/>
          <p:nvPr/>
        </p:nvSpPr>
        <p:spPr>
          <a:xfrm>
            <a:off x="6583680" y="2011680"/>
            <a:ext cx="64008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4" name="Text 12"/>
          <p:cNvSpPr/>
          <p:nvPr/>
        </p:nvSpPr>
        <p:spPr>
          <a:xfrm>
            <a:off x="7406640" y="2121408"/>
            <a:ext cx="3657600" cy="411480"/>
          </a:xfrm>
          <a:prstGeom prst="rect">
            <a:avLst/>
          </a:prstGeom>
          <a:noFill/>
          <a:ln/>
        </p:spPr>
        <p:txBody>
          <a:bodyPr wrap="square" rtlCol="0" anchor="ctr"/>
          <a:lstStyle/>
          <a:p>
            <a:pPr indent="0" marL="0">
              <a:buNone/>
            </a:pPr>
            <a:r>
              <a:rPr lang="en-US" sz="2400" b="1" dirty="0">
                <a:solidFill>
                  <a:srgbClr val="16262C"/>
                </a:solidFill>
                <a:latin typeface="Cambria" pitchFamily="34" charset="0"/>
                <a:ea typeface="Cambria" pitchFamily="34" charset="-122"/>
                <a:cs typeface="Cambria" pitchFamily="34" charset="-120"/>
              </a:rPr>
              <a:t>Población</a:t>
            </a:r>
            <a:endParaRPr lang="en-US" sz="2400" dirty="0"/>
          </a:p>
        </p:txBody>
      </p:sp>
      <p:sp>
        <p:nvSpPr>
          <p:cNvPr id="15" name="Text 13"/>
          <p:cNvSpPr/>
          <p:nvPr/>
        </p:nvSpPr>
        <p:spPr>
          <a:xfrm>
            <a:off x="6583680" y="2880360"/>
            <a:ext cx="4663440" cy="1280160"/>
          </a:xfrm>
          <a:prstGeom prst="rect">
            <a:avLst/>
          </a:prstGeom>
          <a:noFill/>
          <a:ln/>
        </p:spPr>
        <p:txBody>
          <a:bodyPr wrap="square" rtlCol="0" anchor="ctr"/>
          <a:lstStyle/>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Tu gente inscrita, por edad y sexo</a:t>
            </a:r>
            <a:endParaRPr lang="en-US" sz="1450" dirty="0"/>
          </a:p>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Viene cargado el per cápita 2026: 11.273 personas</a:t>
            </a:r>
            <a:endParaRPr lang="en-US" sz="1450" dirty="0"/>
          </a:p>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Para usar el tuyo: «Importar desde Excel/CSV»</a:t>
            </a:r>
            <a:endParaRPr lang="en-US" sz="1450" dirty="0"/>
          </a:p>
        </p:txBody>
      </p:sp>
      <p:sp>
        <p:nvSpPr>
          <p:cNvPr id="16" name="Shape 14"/>
          <p:cNvSpPr/>
          <p:nvPr/>
        </p:nvSpPr>
        <p:spPr>
          <a:xfrm>
            <a:off x="6583680" y="4251960"/>
            <a:ext cx="4663440" cy="1234440"/>
          </a:xfrm>
          <a:prstGeom prst="roundRect">
            <a:avLst>
              <a:gd name="adj" fmla="val 4444"/>
            </a:avLst>
          </a:prstGeom>
          <a:solidFill>
            <a:srgbClr val="E3EFEF"/>
          </a:solidFill>
          <a:ln/>
        </p:spPr>
      </p:sp>
      <p:sp>
        <p:nvSpPr>
          <p:cNvPr id="17" name="Text 15"/>
          <p:cNvSpPr/>
          <p:nvPr/>
        </p:nvSpPr>
        <p:spPr>
          <a:xfrm>
            <a:off x="6766560" y="4434840"/>
            <a:ext cx="4297680" cy="914400"/>
          </a:xfrm>
          <a:prstGeom prst="rect">
            <a:avLst/>
          </a:prstGeom>
          <a:noFill/>
          <a:ln/>
        </p:spPr>
        <p:txBody>
          <a:bodyPr wrap="square" rtlCol="0" anchor="ctr"/>
          <a:lstStyle/>
          <a:p>
            <a:pPr indent="0" marL="0">
              <a:buNone/>
            </a:pPr>
            <a:r>
              <a:rPr lang="en-US" sz="1300" b="1" dirty="0">
                <a:solidFill>
                  <a:srgbClr val="0B4A4E"/>
                </a:solidFill>
                <a:latin typeface="Calibri" pitchFamily="34" charset="0"/>
                <a:ea typeface="Calibri" pitchFamily="34" charset="-122"/>
                <a:cs typeface="Calibri" pitchFamily="34" charset="-120"/>
              </a:rPr>
              <a:t>Este es el punto de partida de todo. </a:t>
            </a:r>
            <a:pPr indent="0" marL="0">
              <a:buNone/>
            </a:pPr>
            <a:r>
              <a:rPr lang="en-US" sz="1300" dirty="0">
                <a:solidFill>
                  <a:srgbClr val="4A5D64"/>
                </a:solidFill>
                <a:latin typeface="Calibri" pitchFamily="34" charset="0"/>
                <a:ea typeface="Calibri" pitchFamily="34" charset="-122"/>
                <a:cs typeface="Calibri" pitchFamily="34" charset="-120"/>
              </a:rPr>
              <a:t>Cada prestación saca de aquí su población: si esta tabla está mal, todo lo demás estará mal.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Si no eres de Tongoy: este paso no se salta</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Está en el módulo 02, bajo la tabla de población.</a:t>
            </a:r>
            <a:endParaRPr lang="en-US" sz="1500" dirty="0"/>
          </a:p>
        </p:txBody>
      </p:sp>
      <p:sp>
        <p:nvSpPr>
          <p:cNvPr id="4" name="Shape 2"/>
          <p:cNvSpPr/>
          <p:nvPr/>
        </p:nvSpPr>
        <p:spPr>
          <a:xfrm>
            <a:off x="640080" y="1783080"/>
            <a:ext cx="6492240" cy="3931920"/>
          </a:xfrm>
          <a:prstGeom prst="roundRect">
            <a:avLst>
              <a:gd name="adj" fmla="val 1860"/>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Text 3"/>
          <p:cNvSpPr/>
          <p:nvPr/>
        </p:nvSpPr>
        <p:spPr>
          <a:xfrm>
            <a:off x="960120" y="2011680"/>
            <a:ext cx="5852160" cy="365760"/>
          </a:xfrm>
          <a:prstGeom prst="rect">
            <a:avLst/>
          </a:prstGeom>
          <a:noFill/>
          <a:ln/>
        </p:spPr>
        <p:txBody>
          <a:bodyPr wrap="square" rtlCol="0" anchor="ctr"/>
          <a:lstStyle/>
          <a:p>
            <a:pPr indent="0" marL="0">
              <a:buNone/>
            </a:pPr>
            <a:r>
              <a:rPr lang="en-US" sz="1900" b="1" dirty="0">
                <a:solidFill>
                  <a:srgbClr val="16262C"/>
                </a:solidFill>
                <a:latin typeface="Cambria" pitchFamily="34" charset="0"/>
                <a:ea typeface="Cambria" pitchFamily="34" charset="-122"/>
                <a:cs typeface="Cambria" pitchFamily="34" charset="-120"/>
              </a:rPr>
              <a:t>Muchas prestaciones traen cifras fijas del REM de Tongoy</a:t>
            </a:r>
            <a:endParaRPr lang="en-US" sz="1900" dirty="0"/>
          </a:p>
        </p:txBody>
      </p:sp>
      <p:sp>
        <p:nvSpPr>
          <p:cNvPr id="6" name="Text 4"/>
          <p:cNvSpPr/>
          <p:nvPr/>
        </p:nvSpPr>
        <p:spPr>
          <a:xfrm>
            <a:off x="960120" y="2468880"/>
            <a:ext cx="5852160" cy="822960"/>
          </a:xfrm>
          <a:prstGeom prst="rect">
            <a:avLst/>
          </a:prstGeom>
          <a:noFill/>
          <a:ln/>
        </p:spPr>
        <p:txBody>
          <a:bodyPr wrap="square" rtlCol="0" anchor="ctr"/>
          <a:lstStyle/>
          <a:p>
            <a:pPr indent="0" marL="0">
              <a:buNone/>
            </a:pPr>
            <a:r>
              <a:rPr lang="en-US" sz="1450" dirty="0">
                <a:solidFill>
                  <a:srgbClr val="4A5D64"/>
                </a:solidFill>
                <a:latin typeface="Calibri" pitchFamily="34" charset="0"/>
                <a:ea typeface="Calibri" pitchFamily="34" charset="-122"/>
                <a:cs typeface="Calibri" pitchFamily="34" charset="-120"/>
              </a:rPr>
              <a:t>Por ejemplo: «3.879 consultas de morbilidad al año». Ese número no se ajusta solo cuando cambias la población, porque no salió del per cápita: salió del registro de lo que efectivamente se hizo, aquí.</a:t>
            </a:r>
            <a:endParaRPr lang="en-US" sz="1450" dirty="0"/>
          </a:p>
        </p:txBody>
      </p:sp>
      <p:sp>
        <p:nvSpPr>
          <p:cNvPr id="7" name="Shape 5"/>
          <p:cNvSpPr/>
          <p:nvPr/>
        </p:nvSpPr>
        <p:spPr>
          <a:xfrm>
            <a:off x="960120" y="3429000"/>
            <a:ext cx="5852160" cy="685800"/>
          </a:xfrm>
          <a:prstGeom prst="roundRect">
            <a:avLst>
              <a:gd name="adj" fmla="val 8000"/>
            </a:avLst>
          </a:prstGeom>
          <a:solidFill>
            <a:srgbClr val="E4F2EA"/>
          </a:solidFill>
          <a:ln/>
        </p:spPr>
      </p:sp>
      <p:sp>
        <p:nvSpPr>
          <p:cNvPr id="8" name="Text 6"/>
          <p:cNvSpPr/>
          <p:nvPr/>
        </p:nvSpPr>
        <p:spPr>
          <a:xfrm>
            <a:off x="1188720" y="3566160"/>
            <a:ext cx="5486400" cy="411480"/>
          </a:xfrm>
          <a:prstGeom prst="rect">
            <a:avLst/>
          </a:prstGeom>
          <a:noFill/>
          <a:ln/>
        </p:spPr>
        <p:txBody>
          <a:bodyPr wrap="square" rtlCol="0" anchor="ctr"/>
          <a:lstStyle/>
          <a:p>
            <a:pPr indent="0" marL="0">
              <a:buNone/>
            </a:pPr>
            <a:r>
              <a:rPr lang="en-US" sz="1500" dirty="0">
                <a:solidFill>
                  <a:srgbClr val="16262C"/>
                </a:solidFill>
                <a:latin typeface="Calibri" pitchFamily="34" charset="0"/>
                <a:ea typeface="Calibri" pitchFamily="34" charset="-122"/>
                <a:cs typeface="Calibri" pitchFamily="34" charset="-120"/>
              </a:rPr>
              <a:t>Si el recuadro dice «al día» en verde  </a:t>
            </a:r>
            <a:pPr indent="0" marL="0">
              <a:buNone/>
            </a:pPr>
            <a:r>
              <a:rPr lang="en-US" sz="1500" b="1" dirty="0">
                <a:solidFill>
                  <a:srgbClr val="1E7B4F"/>
                </a:solidFill>
                <a:latin typeface="Calibri" pitchFamily="34" charset="0"/>
                <a:ea typeface="Calibri" pitchFamily="34" charset="-122"/>
                <a:cs typeface="Calibri" pitchFamily="34" charset="-120"/>
              </a:rPr>
              <a:t>→  sigue tranquilo</a:t>
            </a:r>
            <a:endParaRPr lang="en-US" sz="1500" dirty="0"/>
          </a:p>
        </p:txBody>
      </p:sp>
      <p:sp>
        <p:nvSpPr>
          <p:cNvPr id="9" name="Shape 7"/>
          <p:cNvSpPr/>
          <p:nvPr/>
        </p:nvSpPr>
        <p:spPr>
          <a:xfrm>
            <a:off x="960120" y="4251960"/>
            <a:ext cx="5852160" cy="1234440"/>
          </a:xfrm>
          <a:prstGeom prst="roundRect">
            <a:avLst>
              <a:gd name="adj" fmla="val 4444"/>
            </a:avLst>
          </a:prstGeom>
          <a:solidFill>
            <a:srgbClr val="F9E7E5"/>
          </a:solidFill>
          <a:ln/>
        </p:spPr>
      </p:sp>
      <p:sp>
        <p:nvSpPr>
          <p:cNvPr id="10" name="Text 8"/>
          <p:cNvSpPr/>
          <p:nvPr/>
        </p:nvSpPr>
        <p:spPr>
          <a:xfrm>
            <a:off x="1188720" y="4389120"/>
            <a:ext cx="5486400" cy="1005840"/>
          </a:xfrm>
          <a:prstGeom prst="rect">
            <a:avLst/>
          </a:prstGeom>
          <a:noFill/>
          <a:ln/>
        </p:spPr>
        <p:txBody>
          <a:bodyPr wrap="square" rtlCol="0" anchor="ctr"/>
          <a:lstStyle/>
          <a:p>
            <a:pPr indent="0" marL="0">
              <a:buNone/>
            </a:pPr>
            <a:r>
              <a:rPr lang="en-US" sz="1450" dirty="0">
                <a:solidFill>
                  <a:srgbClr val="16262C"/>
                </a:solidFill>
                <a:latin typeface="Calibri" pitchFamily="34" charset="0"/>
                <a:ea typeface="Calibri" pitchFamily="34" charset="-122"/>
                <a:cs typeface="Calibri" pitchFamily="34" charset="-120"/>
              </a:rPr>
              <a:t>Si dice «requiere acción» en rojo  </a:t>
            </a:r>
            <a:pPr indent="0" marL="0">
              <a:buNone/>
            </a:pPr>
            <a:r>
              <a:rPr lang="en-US" sz="1450" b="1" dirty="0">
                <a:solidFill>
                  <a:srgbClr val="B3372F"/>
                </a:solidFill>
                <a:latin typeface="Calibri" pitchFamily="34" charset="0"/>
                <a:ea typeface="Calibri" pitchFamily="34" charset="-122"/>
                <a:cs typeface="Calibri" pitchFamily="34" charset="-120"/>
              </a:rPr>
              <a:t>→  elige «Por estructura de población» y aprieta el botón.</a:t>
            </a:r>
            <a:pPr indent="0" marL="0">
              <a:buNone/>
            </a:pPr>
            <a:r>
              <a:rPr lang="en-US" sz="1450" dirty="0">
                <a:solidFill>
                  <a:srgbClr val="16262C"/>
                </a:solidFill>
                <a:latin typeface="Calibri" pitchFamily="34" charset="0"/>
                <a:ea typeface="Calibri" pitchFamily="34" charset="-122"/>
                <a:cs typeface="Calibri" pitchFamily="34" charset="-120"/>
              </a:rPr>
              <a:t> Listo: la app ajusta cada prestación según su propio grupo de edad.</a:t>
            </a:r>
            <a:endParaRPr lang="en-US" sz="1450" dirty="0"/>
          </a:p>
        </p:txBody>
      </p:sp>
      <p:sp>
        <p:nvSpPr>
          <p:cNvPr id="11" name="Shape 9"/>
          <p:cNvSpPr/>
          <p:nvPr/>
        </p:nvSpPr>
        <p:spPr>
          <a:xfrm>
            <a:off x="7498080" y="1783080"/>
            <a:ext cx="4023360" cy="3931920"/>
          </a:xfrm>
          <a:prstGeom prst="roundRect">
            <a:avLst>
              <a:gd name="adj" fmla="val 1860"/>
            </a:avLst>
          </a:prstGeom>
          <a:solidFill>
            <a:srgbClr val="082F33"/>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2" name="Text 10"/>
          <p:cNvSpPr/>
          <p:nvPr/>
        </p:nvSpPr>
        <p:spPr>
          <a:xfrm>
            <a:off x="7818120" y="2148840"/>
            <a:ext cx="3383280" cy="731520"/>
          </a:xfrm>
          <a:prstGeom prst="rect">
            <a:avLst/>
          </a:prstGeom>
          <a:noFill/>
          <a:ln/>
        </p:spPr>
        <p:txBody>
          <a:bodyPr wrap="square" rtlCol="0" anchor="ctr"/>
          <a:lstStyle/>
          <a:p>
            <a:pPr indent="0" marL="0">
              <a:buNone/>
            </a:pPr>
            <a:r>
              <a:rPr lang="en-US" sz="1500" dirty="0">
                <a:solidFill>
                  <a:srgbClr val="C7DAD8"/>
                </a:solidFill>
                <a:latin typeface="Calibri" pitchFamily="34" charset="0"/>
                <a:ea typeface="Calibri" pitchFamily="34" charset="-122"/>
                <a:cs typeface="Calibri" pitchFamily="34" charset="-120"/>
              </a:rPr>
              <a:t>Si no lo haces,</a:t>
            </a:r>
            <a:endParaRPr lang="en-US" sz="1500" dirty="0"/>
          </a:p>
          <a:p>
            <a:pPr indent="0" marL="0">
              <a:buNone/>
            </a:pPr>
            <a:r>
              <a:rPr lang="en-US" sz="1500" dirty="0">
                <a:solidFill>
                  <a:srgbClr val="C7DAD8"/>
                </a:solidFill>
                <a:latin typeface="Calibri" pitchFamily="34" charset="0"/>
                <a:ea typeface="Calibri" pitchFamily="34" charset="-122"/>
                <a:cs typeface="Calibri" pitchFamily="34" charset="-120"/>
              </a:rPr>
              <a:t>la app subestima hasta</a:t>
            </a:r>
            <a:endParaRPr lang="en-US" sz="1500" dirty="0"/>
          </a:p>
        </p:txBody>
      </p:sp>
      <p:sp>
        <p:nvSpPr>
          <p:cNvPr id="13" name="Text 11"/>
          <p:cNvSpPr/>
          <p:nvPr/>
        </p:nvSpPr>
        <p:spPr>
          <a:xfrm>
            <a:off x="7818120" y="2880360"/>
            <a:ext cx="3383280" cy="1097280"/>
          </a:xfrm>
          <a:prstGeom prst="rect">
            <a:avLst/>
          </a:prstGeom>
          <a:noFill/>
          <a:ln/>
        </p:spPr>
        <p:txBody>
          <a:bodyPr wrap="square" rtlCol="0" anchor="ctr"/>
          <a:lstStyle/>
          <a:p>
            <a:pPr indent="0" marL="0">
              <a:buNone/>
            </a:pPr>
            <a:r>
              <a:rPr lang="en-US" sz="6000" b="1" dirty="0">
                <a:solidFill>
                  <a:srgbClr val="6FC2B4"/>
                </a:solidFill>
                <a:latin typeface="Cambria" pitchFamily="34" charset="0"/>
                <a:ea typeface="Cambria" pitchFamily="34" charset="-122"/>
                <a:cs typeface="Cambria" pitchFamily="34" charset="-120"/>
              </a:rPr>
              <a:t>45,8 %</a:t>
            </a:r>
            <a:endParaRPr lang="en-US" sz="6000" dirty="0"/>
          </a:p>
        </p:txBody>
      </p:sp>
      <p:sp>
        <p:nvSpPr>
          <p:cNvPr id="14" name="Text 12"/>
          <p:cNvSpPr/>
          <p:nvPr/>
        </p:nvSpPr>
        <p:spPr>
          <a:xfrm>
            <a:off x="7818120" y="3931920"/>
            <a:ext cx="338328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 tu demanda real.</a:t>
            </a:r>
            <a:endParaRPr lang="en-US" sz="1600" dirty="0"/>
          </a:p>
        </p:txBody>
      </p:sp>
      <p:sp>
        <p:nvSpPr>
          <p:cNvPr id="15" name="Text 13"/>
          <p:cNvSpPr/>
          <p:nvPr/>
        </p:nvSpPr>
        <p:spPr>
          <a:xfrm>
            <a:off x="7818120" y="4434840"/>
            <a:ext cx="3383280" cy="1097280"/>
          </a:xfrm>
          <a:prstGeom prst="rect">
            <a:avLst/>
          </a:prstGeom>
          <a:noFill/>
          <a:ln/>
        </p:spPr>
        <p:txBody>
          <a:bodyPr wrap="square" rtlCol="0" anchor="ctr"/>
          <a:lstStyle/>
          <a:p>
            <a:pPr indent="0" marL="0">
              <a:buNone/>
            </a:pPr>
            <a:r>
              <a:rPr lang="en-US" sz="1300" i="1" dirty="0">
                <a:solidFill>
                  <a:srgbClr val="8FB2AE"/>
                </a:solidFill>
                <a:latin typeface="Calibri" pitchFamily="34" charset="0"/>
                <a:ea typeface="Calibri" pitchFamily="34" charset="-122"/>
                <a:cs typeface="Calibri" pitchFamily="34" charset="-120"/>
              </a:rPr>
              <a:t>Y el balance se ve tranquilizador, que es lo peligroso: programarías con la mitad de las horas que necesitas, sin que nada te avise.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Después: con qué contamos</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Los sectores, la gente y las salas.</a:t>
            </a:r>
            <a:endParaRPr lang="en-US" sz="1500" dirty="0"/>
          </a:p>
        </p:txBody>
      </p:sp>
      <p:sp>
        <p:nvSpPr>
          <p:cNvPr id="4" name="Shape 2"/>
          <p:cNvSpPr/>
          <p:nvPr/>
        </p:nvSpPr>
        <p:spPr>
          <a:xfrm>
            <a:off x="640080" y="1783080"/>
            <a:ext cx="3447288" cy="3931920"/>
          </a:xfrm>
          <a:prstGeom prst="roundRect">
            <a:avLst>
              <a:gd name="adj" fmla="val 2122"/>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Shape 3"/>
          <p:cNvSpPr/>
          <p:nvPr/>
        </p:nvSpPr>
        <p:spPr>
          <a:xfrm>
            <a:off x="960120" y="2011680"/>
            <a:ext cx="640080" cy="640080"/>
          </a:xfrm>
          <a:prstGeom prst="ellipse">
            <a:avLst/>
          </a:prstGeom>
          <a:solidFill>
            <a:srgbClr val="0E5F63"/>
          </a:solidFill>
          <a:ln/>
        </p:spPr>
      </p:sp>
      <p:sp>
        <p:nvSpPr>
          <p:cNvPr id="6" name="Text 4"/>
          <p:cNvSpPr/>
          <p:nvPr/>
        </p:nvSpPr>
        <p:spPr>
          <a:xfrm>
            <a:off x="960120" y="2011680"/>
            <a:ext cx="64008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7" name="Text 5"/>
          <p:cNvSpPr/>
          <p:nvPr/>
        </p:nvSpPr>
        <p:spPr>
          <a:xfrm>
            <a:off x="1737360" y="2121408"/>
            <a:ext cx="2194560" cy="411480"/>
          </a:xfrm>
          <a:prstGeom prst="rect">
            <a:avLst/>
          </a:prstGeom>
          <a:noFill/>
          <a:ln/>
        </p:spPr>
        <p:txBody>
          <a:bodyPr wrap="square" rtlCol="0" anchor="ctr"/>
          <a:lstStyle/>
          <a:p>
            <a:pPr indent="0" marL="0">
              <a:buNone/>
            </a:pPr>
            <a:r>
              <a:rPr lang="en-US" sz="2100" b="1" dirty="0">
                <a:solidFill>
                  <a:srgbClr val="0E5F63"/>
                </a:solidFill>
                <a:latin typeface="Cambria" pitchFamily="34" charset="0"/>
                <a:ea typeface="Cambria" pitchFamily="34" charset="-122"/>
                <a:cs typeface="Cambria" pitchFamily="34" charset="-120"/>
              </a:rPr>
              <a:t>Sectores</a:t>
            </a:r>
            <a:endParaRPr lang="en-US" sz="2100" dirty="0"/>
          </a:p>
        </p:txBody>
      </p:sp>
      <p:sp>
        <p:nvSpPr>
          <p:cNvPr id="8" name="Text 6"/>
          <p:cNvSpPr/>
          <p:nvPr/>
        </p:nvSpPr>
        <p:spPr>
          <a:xfrm>
            <a:off x="960120" y="2834640"/>
            <a:ext cx="2834640" cy="2743200"/>
          </a:xfrm>
          <a:prstGeom prst="rect">
            <a:avLst/>
          </a:prstGeom>
          <a:noFill/>
          <a:ln/>
        </p:spPr>
        <p:txBody>
          <a:bodyPr wrap="square" rtlCol="0" anchor="ctr"/>
          <a:lstStyle/>
          <a:p>
            <a:pPr indent="0" marL="0">
              <a:buNone/>
            </a:pPr>
            <a:r>
              <a:rPr lang="en-US" sz="1350" dirty="0">
                <a:solidFill>
                  <a:srgbClr val="4A5D64"/>
                </a:solidFill>
                <a:latin typeface="Calibri" pitchFamily="34" charset="0"/>
                <a:ea typeface="Calibri" pitchFamily="34" charset="-122"/>
                <a:cs typeface="Calibri" pitchFamily="34" charset="-120"/>
              </a:rPr>
              <a:t>¿Trabajas por sectores?</a:t>
            </a:r>
            <a:endParaRPr lang="en-US" sz="1350" dirty="0"/>
          </a:p>
          <a:p>
            <a:pPr indent="0" marL="0">
              <a:buNone/>
            </a:pPr>
            <a:endParaRPr lang="en-US" sz="1350" dirty="0"/>
          </a:p>
          <a:p>
            <a:pPr indent="0" marL="0">
              <a:buNone/>
            </a:pPr>
            <a:r>
              <a:rPr lang="en-US" sz="1350" dirty="0">
                <a:solidFill>
                  <a:srgbClr val="4A5D64"/>
                </a:solidFill>
                <a:latin typeface="Calibri" pitchFamily="34" charset="0"/>
                <a:ea typeface="Calibri" pitchFamily="34" charset="-122"/>
                <a:cs typeface="Calibri" pitchFamily="34" charset="-120"/>
              </a:rPr>
              <a:t>Si no sectorizas, no toques nada y sigue de largo.</a:t>
            </a:r>
            <a:endParaRPr lang="en-US" sz="1350" dirty="0"/>
          </a:p>
          <a:p>
            <a:pPr indent="0" marL="0">
              <a:buNone/>
            </a:pPr>
            <a:endParaRPr lang="en-US" sz="1350" dirty="0"/>
          </a:p>
          <a:p>
            <a:pPr indent="0" marL="0">
              <a:buNone/>
            </a:pPr>
            <a:r>
              <a:rPr lang="en-US" sz="1350" dirty="0">
                <a:solidFill>
                  <a:srgbClr val="4A5D64"/>
                </a:solidFill>
                <a:latin typeface="Calibri" pitchFamily="34" charset="0"/>
                <a:ea typeface="Calibri" pitchFamily="34" charset="-122"/>
                <a:cs typeface="Calibri" pitchFamily="34" charset="-120"/>
              </a:rPr>
              <a:t>Si sectorizas, pon qué porcentaje de la población le toca a cada uno. Deben sumar 100 %: la app te avisa si no cuadra.</a:t>
            </a:r>
            <a:endParaRPr lang="en-US" sz="1350" dirty="0"/>
          </a:p>
        </p:txBody>
      </p:sp>
      <p:sp>
        <p:nvSpPr>
          <p:cNvPr id="9" name="Shape 7"/>
          <p:cNvSpPr/>
          <p:nvPr/>
        </p:nvSpPr>
        <p:spPr>
          <a:xfrm>
            <a:off x="4361688" y="1783080"/>
            <a:ext cx="3447288" cy="3931920"/>
          </a:xfrm>
          <a:prstGeom prst="roundRect">
            <a:avLst>
              <a:gd name="adj" fmla="val 2122"/>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0" name="Shape 8"/>
          <p:cNvSpPr/>
          <p:nvPr/>
        </p:nvSpPr>
        <p:spPr>
          <a:xfrm>
            <a:off x="4681728" y="2011680"/>
            <a:ext cx="640080" cy="640080"/>
          </a:xfrm>
          <a:prstGeom prst="ellipse">
            <a:avLst/>
          </a:prstGeom>
          <a:solidFill>
            <a:srgbClr val="0E5F63"/>
          </a:solidFill>
          <a:ln/>
        </p:spPr>
      </p:sp>
      <p:sp>
        <p:nvSpPr>
          <p:cNvPr id="11" name="Text 9"/>
          <p:cNvSpPr/>
          <p:nvPr/>
        </p:nvSpPr>
        <p:spPr>
          <a:xfrm>
            <a:off x="4681728" y="2011680"/>
            <a:ext cx="64008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2" name="Text 10"/>
          <p:cNvSpPr/>
          <p:nvPr/>
        </p:nvSpPr>
        <p:spPr>
          <a:xfrm>
            <a:off x="5458968" y="2121408"/>
            <a:ext cx="2194560" cy="411480"/>
          </a:xfrm>
          <a:prstGeom prst="rect">
            <a:avLst/>
          </a:prstGeom>
          <a:noFill/>
          <a:ln/>
        </p:spPr>
        <p:txBody>
          <a:bodyPr wrap="square" rtlCol="0" anchor="ctr"/>
          <a:lstStyle/>
          <a:p>
            <a:pPr indent="0" marL="0">
              <a:buNone/>
            </a:pPr>
            <a:r>
              <a:rPr lang="en-US" sz="2100" b="1" dirty="0">
                <a:solidFill>
                  <a:srgbClr val="0E5F63"/>
                </a:solidFill>
                <a:latin typeface="Cambria" pitchFamily="34" charset="0"/>
                <a:ea typeface="Cambria" pitchFamily="34" charset="-122"/>
                <a:cs typeface="Cambria" pitchFamily="34" charset="-120"/>
              </a:rPr>
              <a:t>Equipo</a:t>
            </a:r>
            <a:endParaRPr lang="en-US" sz="2100" dirty="0"/>
          </a:p>
        </p:txBody>
      </p:sp>
      <p:sp>
        <p:nvSpPr>
          <p:cNvPr id="13" name="Text 11"/>
          <p:cNvSpPr/>
          <p:nvPr/>
        </p:nvSpPr>
        <p:spPr>
          <a:xfrm>
            <a:off x="4681728" y="2834640"/>
            <a:ext cx="2834640" cy="2743200"/>
          </a:xfrm>
          <a:prstGeom prst="rect">
            <a:avLst/>
          </a:prstGeom>
          <a:noFill/>
          <a:ln/>
        </p:spPr>
        <p:txBody>
          <a:bodyPr wrap="square" rtlCol="0" anchor="ctr"/>
          <a:lstStyle/>
          <a:p>
            <a:pPr indent="0" marL="0">
              <a:buNone/>
            </a:pPr>
            <a:r>
              <a:rPr lang="en-US" sz="1350" dirty="0">
                <a:solidFill>
                  <a:srgbClr val="4A5D64"/>
                </a:solidFill>
                <a:latin typeface="Calibri" pitchFamily="34" charset="0"/>
                <a:ea typeface="Calibri" pitchFamily="34" charset="-122"/>
                <a:cs typeface="Calibri" pitchFamily="34" charset="-120"/>
              </a:rPr>
              <a:t>Cada persona: jornada, horas de administración y de reuniones.</a:t>
            </a:r>
            <a:endParaRPr lang="en-US" sz="1350" dirty="0"/>
          </a:p>
          <a:p>
            <a:pPr indent="0" marL="0">
              <a:buNone/>
            </a:pPr>
            <a:endParaRPr lang="en-US" sz="1350" dirty="0"/>
          </a:p>
          <a:p>
            <a:pPr indent="0" marL="0">
              <a:buNone/>
            </a:pPr>
            <a:r>
              <a:rPr lang="en-US" sz="1350" dirty="0">
                <a:solidFill>
                  <a:srgbClr val="4A5D64"/>
                </a:solidFill>
                <a:latin typeface="Calibri" pitchFamily="34" charset="0"/>
                <a:ea typeface="Calibri" pitchFamily="34" charset="-122"/>
                <a:cs typeface="Calibri" pitchFamily="34" charset="-120"/>
              </a:rPr>
              <a:t>La última columna la calcula la app: lo que realmente le queda para atender público.</a:t>
            </a:r>
            <a:endParaRPr lang="en-US" sz="1350" dirty="0"/>
          </a:p>
          <a:p>
            <a:pPr indent="0" marL="0">
              <a:buNone/>
            </a:pPr>
            <a:endParaRPr lang="en-US" sz="1350" dirty="0"/>
          </a:p>
          <a:p>
            <a:pPr indent="0" marL="0">
              <a:buNone/>
            </a:pPr>
            <a:r>
              <a:rPr lang="en-US" sz="1350" dirty="0">
                <a:solidFill>
                  <a:srgbClr val="4A5D64"/>
                </a:solidFill>
                <a:latin typeface="Calibri" pitchFamily="34" charset="0"/>
                <a:ea typeface="Calibri" pitchFamily="34" charset="-122"/>
                <a:cs typeface="Calibri" pitchFamily="34" charset="-120"/>
              </a:rPr>
              <a:t>Vienen los 78 funcionarios, sin nombres.</a:t>
            </a:r>
            <a:endParaRPr lang="en-US" sz="1350" dirty="0"/>
          </a:p>
        </p:txBody>
      </p:sp>
      <p:sp>
        <p:nvSpPr>
          <p:cNvPr id="14" name="Shape 12"/>
          <p:cNvSpPr/>
          <p:nvPr/>
        </p:nvSpPr>
        <p:spPr>
          <a:xfrm>
            <a:off x="8083296" y="1783080"/>
            <a:ext cx="3447288" cy="3931920"/>
          </a:xfrm>
          <a:prstGeom prst="roundRect">
            <a:avLst>
              <a:gd name="adj" fmla="val 2122"/>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5" name="Shape 13"/>
          <p:cNvSpPr/>
          <p:nvPr/>
        </p:nvSpPr>
        <p:spPr>
          <a:xfrm>
            <a:off x="8403336" y="2011680"/>
            <a:ext cx="640080" cy="640080"/>
          </a:xfrm>
          <a:prstGeom prst="ellipse">
            <a:avLst/>
          </a:prstGeom>
          <a:solidFill>
            <a:srgbClr val="0E5F63"/>
          </a:solidFill>
          <a:ln/>
        </p:spPr>
      </p:sp>
      <p:sp>
        <p:nvSpPr>
          <p:cNvPr id="16" name="Text 14"/>
          <p:cNvSpPr/>
          <p:nvPr/>
        </p:nvSpPr>
        <p:spPr>
          <a:xfrm>
            <a:off x="8403336" y="2011680"/>
            <a:ext cx="64008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17" name="Text 15"/>
          <p:cNvSpPr/>
          <p:nvPr/>
        </p:nvSpPr>
        <p:spPr>
          <a:xfrm>
            <a:off x="9180576" y="2121408"/>
            <a:ext cx="2194560" cy="411480"/>
          </a:xfrm>
          <a:prstGeom prst="rect">
            <a:avLst/>
          </a:prstGeom>
          <a:noFill/>
          <a:ln/>
        </p:spPr>
        <p:txBody>
          <a:bodyPr wrap="square" rtlCol="0" anchor="ctr"/>
          <a:lstStyle/>
          <a:p>
            <a:pPr indent="0" marL="0">
              <a:buNone/>
            </a:pPr>
            <a:r>
              <a:rPr lang="en-US" sz="2100" b="1" dirty="0">
                <a:solidFill>
                  <a:srgbClr val="B47714"/>
                </a:solidFill>
                <a:latin typeface="Cambria" pitchFamily="34" charset="0"/>
                <a:ea typeface="Cambria" pitchFamily="34" charset="-122"/>
                <a:cs typeface="Cambria" pitchFamily="34" charset="-120"/>
              </a:rPr>
              <a:t>Box</a:t>
            </a:r>
            <a:endParaRPr lang="en-US" sz="2100" dirty="0"/>
          </a:p>
        </p:txBody>
      </p:sp>
      <p:sp>
        <p:nvSpPr>
          <p:cNvPr id="18" name="Text 16"/>
          <p:cNvSpPr/>
          <p:nvPr/>
        </p:nvSpPr>
        <p:spPr>
          <a:xfrm>
            <a:off x="8403336" y="2834640"/>
            <a:ext cx="2834640" cy="2743200"/>
          </a:xfrm>
          <a:prstGeom prst="rect">
            <a:avLst/>
          </a:prstGeom>
          <a:noFill/>
          <a:ln/>
        </p:spPr>
        <p:txBody>
          <a:bodyPr wrap="square" rtlCol="0" anchor="ctr"/>
          <a:lstStyle/>
          <a:p>
            <a:pPr indent="0" marL="0">
              <a:buNone/>
            </a:pPr>
            <a:r>
              <a:rPr lang="en-US" sz="1350" dirty="0">
                <a:solidFill>
                  <a:srgbClr val="4A5D64"/>
                </a:solidFill>
                <a:latin typeface="Calibri" pitchFamily="34" charset="0"/>
                <a:ea typeface="Calibri" pitchFamily="34" charset="-122"/>
                <a:cs typeface="Calibri" pitchFamily="34" charset="-120"/>
              </a:rPr>
              <a:t>Cuántas salas hay y cuántas horas está abierta cada una.</a:t>
            </a:r>
            <a:endParaRPr lang="en-US" sz="1350" dirty="0"/>
          </a:p>
          <a:p>
            <a:pPr indent="0" marL="0">
              <a:buNone/>
            </a:pPr>
            <a:endParaRPr lang="en-US" sz="1350" dirty="0"/>
          </a:p>
          <a:p>
            <a:pPr indent="0" marL="0">
              <a:buNone/>
            </a:pPr>
            <a:r>
              <a:rPr lang="en-US" sz="1350" dirty="0">
                <a:solidFill>
                  <a:srgbClr val="4A5D64"/>
                </a:solidFill>
                <a:latin typeface="Calibri" pitchFamily="34" charset="0"/>
                <a:ea typeface="Calibri" pitchFamily="34" charset="-122"/>
                <a:cs typeface="Calibri" pitchFamily="34" charset="-120"/>
              </a:rPr>
              <a:t>Ojo: estos números son un supuesto, porque la planilla no los registraba. Hay que corregirlos con lo que realmente tenemos.</a:t>
            </a:r>
            <a:endParaRPr lang="en-US" sz="1350" dirty="0"/>
          </a:p>
        </p:txBody>
      </p:sp>
      <p:sp>
        <p:nvSpPr>
          <p:cNvPr id="19" name="Text 17"/>
          <p:cNvSpPr/>
          <p:nvPr/>
        </p:nvSpPr>
        <p:spPr>
          <a:xfrm>
            <a:off x="640080" y="5852160"/>
            <a:ext cx="10881360" cy="457200"/>
          </a:xfrm>
          <a:prstGeom prst="rect">
            <a:avLst/>
          </a:prstGeom>
          <a:noFill/>
          <a:ln/>
        </p:spPr>
        <p:txBody>
          <a:bodyPr wrap="square" rtlCol="0" anchor="ctr"/>
          <a:lstStyle/>
          <a:p>
            <a:pPr algn="ctr" indent="0" marL="0">
              <a:buNone/>
            </a:pPr>
            <a:r>
              <a:rPr lang="en-US" sz="1400" b="1" dirty="0">
                <a:solidFill>
                  <a:srgbClr val="B3372F"/>
                </a:solidFill>
                <a:latin typeface="Calibri" pitchFamily="34" charset="0"/>
                <a:ea typeface="Calibri" pitchFamily="34" charset="-122"/>
                <a:cs typeface="Calibri" pitchFamily="34" charset="-120"/>
              </a:rPr>
              <a:t>Si a alguien le sale el cartel rojo «sobreasignado», no es un error del programa: esa persona tiene más horas de papeleo y reuniones que horas de contrato. Es un problema real, y ahora se ve.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El corazón: qué nos comprometemos a hacer</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Módulo 06. Vienen 236 prestaciones cargadas, de todos los ciclos vitales.</a:t>
            </a:r>
            <a:endParaRPr lang="en-US" sz="1500" dirty="0"/>
          </a:p>
        </p:txBody>
      </p:sp>
      <p:sp>
        <p:nvSpPr>
          <p:cNvPr id="4" name="Shape 2"/>
          <p:cNvSpPr/>
          <p:nvPr/>
        </p:nvSpPr>
        <p:spPr>
          <a:xfrm>
            <a:off x="640080" y="1783080"/>
            <a:ext cx="5943600" cy="3931920"/>
          </a:xfrm>
          <a:prstGeom prst="roundRect">
            <a:avLst>
              <a:gd name="adj" fmla="val 1860"/>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Text 3"/>
          <p:cNvSpPr/>
          <p:nvPr/>
        </p:nvSpPr>
        <p:spPr>
          <a:xfrm>
            <a:off x="960120" y="2011680"/>
            <a:ext cx="5394960" cy="365760"/>
          </a:xfrm>
          <a:prstGeom prst="rect">
            <a:avLst/>
          </a:prstGeom>
          <a:noFill/>
          <a:ln/>
        </p:spPr>
        <p:txBody>
          <a:bodyPr wrap="square" rtlCol="0" anchor="ctr"/>
          <a:lstStyle/>
          <a:p>
            <a:pPr indent="0" marL="0">
              <a:buNone/>
            </a:pPr>
            <a:r>
              <a:rPr lang="en-US" sz="1900" b="1" dirty="0">
                <a:solidFill>
                  <a:srgbClr val="16262C"/>
                </a:solidFill>
                <a:latin typeface="Cambria" pitchFamily="34" charset="0"/>
                <a:ea typeface="Cambria" pitchFamily="34" charset="-122"/>
                <a:cs typeface="Cambria" pitchFamily="34" charset="-120"/>
              </a:rPr>
              <a:t>Haz clic en cualquier fila y se abre el detalle</a:t>
            </a:r>
            <a:endParaRPr lang="en-US" sz="1900" dirty="0"/>
          </a:p>
        </p:txBody>
      </p:sp>
      <p:sp>
        <p:nvSpPr>
          <p:cNvPr id="6" name="Shape 4"/>
          <p:cNvSpPr/>
          <p:nvPr/>
        </p:nvSpPr>
        <p:spPr>
          <a:xfrm>
            <a:off x="960120" y="2560320"/>
            <a:ext cx="201168" cy="201168"/>
          </a:xfrm>
          <a:prstGeom prst="ellipse">
            <a:avLst/>
          </a:prstGeom>
          <a:solidFill>
            <a:srgbClr val="0E5F63"/>
          </a:solidFill>
          <a:ln/>
        </p:spPr>
      </p:sp>
      <p:sp>
        <p:nvSpPr>
          <p:cNvPr id="7" name="Text 5"/>
          <p:cNvSpPr/>
          <p:nvPr/>
        </p:nvSpPr>
        <p:spPr>
          <a:xfrm>
            <a:off x="1325880" y="2514600"/>
            <a:ext cx="2011680" cy="274320"/>
          </a:xfrm>
          <a:prstGeom prst="rect">
            <a:avLst/>
          </a:prstGeom>
          <a:noFill/>
          <a:ln/>
        </p:spPr>
        <p:txBody>
          <a:bodyPr wrap="square" lIns="0" tIns="0" rIns="0" bIns="0" rtlCol="0" anchor="ctr"/>
          <a:lstStyle/>
          <a:p>
            <a:pPr indent="0" marL="0">
              <a:buNone/>
            </a:pPr>
            <a:r>
              <a:rPr lang="en-US" sz="1500" b="1" dirty="0">
                <a:solidFill>
                  <a:srgbClr val="0B4A4E"/>
                </a:solidFill>
                <a:latin typeface="Calibri" pitchFamily="34" charset="0"/>
                <a:ea typeface="Calibri" pitchFamily="34" charset="-122"/>
                <a:cs typeface="Calibri" pitchFamily="34" charset="-120"/>
              </a:rPr>
              <a:t>Cobertura</a:t>
            </a:r>
            <a:endParaRPr lang="en-US" sz="1500" dirty="0"/>
          </a:p>
        </p:txBody>
      </p:sp>
      <p:sp>
        <p:nvSpPr>
          <p:cNvPr id="8" name="Text 6"/>
          <p:cNvSpPr/>
          <p:nvPr/>
        </p:nvSpPr>
        <p:spPr>
          <a:xfrm>
            <a:off x="1325880" y="2807208"/>
            <a:ext cx="4937760" cy="548640"/>
          </a:xfrm>
          <a:prstGeom prst="rect">
            <a:avLst/>
          </a:prstGeom>
          <a:noFill/>
          <a:ln/>
        </p:spPr>
        <p:txBody>
          <a:bodyPr wrap="square" lIns="0" tIns="0" rIns="0" bIns="0" rtlCol="0" anchor="ctr"/>
          <a:lstStyle/>
          <a:p>
            <a:pPr indent="0" marL="0">
              <a:buNone/>
            </a:pPr>
            <a:r>
              <a:rPr lang="en-US" sz="1350" dirty="0">
                <a:solidFill>
                  <a:srgbClr val="4A5D64"/>
                </a:solidFill>
                <a:latin typeface="Calibri" pitchFamily="34" charset="0"/>
                <a:ea typeface="Calibri" pitchFamily="34" charset="-122"/>
                <a:cs typeface="Calibri" pitchFamily="34" charset="-120"/>
              </a:rPr>
              <a:t>A qué parte de la gente vamos a llegar. Se escribe en decimales: 0.8 es 80 %.</a:t>
            </a:r>
            <a:endParaRPr lang="en-US" sz="1350" dirty="0"/>
          </a:p>
        </p:txBody>
      </p:sp>
      <p:sp>
        <p:nvSpPr>
          <p:cNvPr id="9" name="Shape 7"/>
          <p:cNvSpPr/>
          <p:nvPr/>
        </p:nvSpPr>
        <p:spPr>
          <a:xfrm>
            <a:off x="960120" y="3520440"/>
            <a:ext cx="201168" cy="201168"/>
          </a:xfrm>
          <a:prstGeom prst="ellipse">
            <a:avLst/>
          </a:prstGeom>
          <a:solidFill>
            <a:srgbClr val="0E5F63"/>
          </a:solidFill>
          <a:ln/>
        </p:spPr>
      </p:sp>
      <p:sp>
        <p:nvSpPr>
          <p:cNvPr id="10" name="Text 8"/>
          <p:cNvSpPr/>
          <p:nvPr/>
        </p:nvSpPr>
        <p:spPr>
          <a:xfrm>
            <a:off x="1325880" y="3474720"/>
            <a:ext cx="2011680" cy="274320"/>
          </a:xfrm>
          <a:prstGeom prst="rect">
            <a:avLst/>
          </a:prstGeom>
          <a:noFill/>
          <a:ln/>
        </p:spPr>
        <p:txBody>
          <a:bodyPr wrap="square" lIns="0" tIns="0" rIns="0" bIns="0" rtlCol="0" anchor="ctr"/>
          <a:lstStyle/>
          <a:p>
            <a:pPr indent="0" marL="0">
              <a:buNone/>
            </a:pPr>
            <a:r>
              <a:rPr lang="en-US" sz="1500" b="1" dirty="0">
                <a:solidFill>
                  <a:srgbClr val="0B4A4E"/>
                </a:solidFill>
                <a:latin typeface="Calibri" pitchFamily="34" charset="0"/>
                <a:ea typeface="Calibri" pitchFamily="34" charset="-122"/>
                <a:cs typeface="Calibri" pitchFamily="34" charset="-120"/>
              </a:rPr>
              <a:t>Concentración</a:t>
            </a:r>
            <a:endParaRPr lang="en-US" sz="1500" dirty="0"/>
          </a:p>
        </p:txBody>
      </p:sp>
      <p:sp>
        <p:nvSpPr>
          <p:cNvPr id="11" name="Text 9"/>
          <p:cNvSpPr/>
          <p:nvPr/>
        </p:nvSpPr>
        <p:spPr>
          <a:xfrm>
            <a:off x="1325880" y="3767328"/>
            <a:ext cx="4937760" cy="548640"/>
          </a:xfrm>
          <a:prstGeom prst="rect">
            <a:avLst/>
          </a:prstGeom>
          <a:noFill/>
          <a:ln/>
        </p:spPr>
        <p:txBody>
          <a:bodyPr wrap="square" lIns="0" tIns="0" rIns="0" bIns="0" rtlCol="0" anchor="ctr"/>
          <a:lstStyle/>
          <a:p>
            <a:pPr indent="0" marL="0">
              <a:buNone/>
            </a:pPr>
            <a:r>
              <a:rPr lang="en-US" sz="1350" dirty="0">
                <a:solidFill>
                  <a:srgbClr val="4A5D64"/>
                </a:solidFill>
                <a:latin typeface="Calibri" pitchFamily="34" charset="0"/>
                <a:ea typeface="Calibri" pitchFamily="34" charset="-122"/>
                <a:cs typeface="Calibri" pitchFamily="34" charset="-120"/>
              </a:rPr>
              <a:t>Cuántas veces al año atendemos a cada persona.</a:t>
            </a:r>
            <a:endParaRPr lang="en-US" sz="1350" dirty="0"/>
          </a:p>
        </p:txBody>
      </p:sp>
      <p:sp>
        <p:nvSpPr>
          <p:cNvPr id="12" name="Shape 10"/>
          <p:cNvSpPr/>
          <p:nvPr/>
        </p:nvSpPr>
        <p:spPr>
          <a:xfrm>
            <a:off x="960120" y="4480560"/>
            <a:ext cx="201168" cy="201168"/>
          </a:xfrm>
          <a:prstGeom prst="ellipse">
            <a:avLst/>
          </a:prstGeom>
          <a:solidFill>
            <a:srgbClr val="0E5F63"/>
          </a:solidFill>
          <a:ln/>
        </p:spPr>
      </p:sp>
      <p:sp>
        <p:nvSpPr>
          <p:cNvPr id="13" name="Text 11"/>
          <p:cNvSpPr/>
          <p:nvPr/>
        </p:nvSpPr>
        <p:spPr>
          <a:xfrm>
            <a:off x="1325880" y="4434840"/>
            <a:ext cx="2011680" cy="274320"/>
          </a:xfrm>
          <a:prstGeom prst="rect">
            <a:avLst/>
          </a:prstGeom>
          <a:noFill/>
          <a:ln/>
        </p:spPr>
        <p:txBody>
          <a:bodyPr wrap="square" lIns="0" tIns="0" rIns="0" bIns="0" rtlCol="0" anchor="ctr"/>
          <a:lstStyle/>
          <a:p>
            <a:pPr indent="0" marL="0">
              <a:buNone/>
            </a:pPr>
            <a:r>
              <a:rPr lang="en-US" sz="1500" b="1" dirty="0">
                <a:solidFill>
                  <a:srgbClr val="0B4A4E"/>
                </a:solidFill>
                <a:latin typeface="Calibri" pitchFamily="34" charset="0"/>
                <a:ea typeface="Calibri" pitchFamily="34" charset="-122"/>
                <a:cs typeface="Calibri" pitchFamily="34" charset="-120"/>
              </a:rPr>
              <a:t>Quién la hace</a:t>
            </a:r>
            <a:endParaRPr lang="en-US" sz="1500" dirty="0"/>
          </a:p>
        </p:txBody>
      </p:sp>
      <p:sp>
        <p:nvSpPr>
          <p:cNvPr id="14" name="Text 12"/>
          <p:cNvSpPr/>
          <p:nvPr/>
        </p:nvSpPr>
        <p:spPr>
          <a:xfrm>
            <a:off x="1325880" y="4727448"/>
            <a:ext cx="4937760" cy="548640"/>
          </a:xfrm>
          <a:prstGeom prst="rect">
            <a:avLst/>
          </a:prstGeom>
          <a:noFill/>
          <a:ln/>
        </p:spPr>
        <p:txBody>
          <a:bodyPr wrap="square" lIns="0" tIns="0" rIns="0" bIns="0" rtlCol="0" anchor="ctr"/>
          <a:lstStyle/>
          <a:p>
            <a:pPr indent="0" marL="0">
              <a:buNone/>
            </a:pPr>
            <a:r>
              <a:rPr lang="en-US" sz="1350" dirty="0">
                <a:solidFill>
                  <a:srgbClr val="4A5D64"/>
                </a:solidFill>
                <a:latin typeface="Calibri" pitchFamily="34" charset="0"/>
                <a:ea typeface="Calibri" pitchFamily="34" charset="-122"/>
                <a:cs typeface="Calibri" pitchFamily="34" charset="-120"/>
              </a:rPr>
              <a:t>El estamento, qué porcentaje le toca y cuántos minutos dura la atención.</a:t>
            </a:r>
            <a:endParaRPr lang="en-US" sz="1350" dirty="0"/>
          </a:p>
        </p:txBody>
      </p:sp>
      <p:sp>
        <p:nvSpPr>
          <p:cNvPr id="15" name="Text 13"/>
          <p:cNvSpPr/>
          <p:nvPr/>
        </p:nvSpPr>
        <p:spPr>
          <a:xfrm>
            <a:off x="960120" y="5394960"/>
            <a:ext cx="5394960" cy="274320"/>
          </a:xfrm>
          <a:prstGeom prst="rect">
            <a:avLst/>
          </a:prstGeom>
          <a:noFill/>
          <a:ln/>
        </p:spPr>
        <p:txBody>
          <a:bodyPr wrap="square" rtlCol="0" anchor="ctr"/>
          <a:lstStyle/>
          <a:p>
            <a:pPr indent="0" marL="0">
              <a:buNone/>
            </a:pPr>
            <a:r>
              <a:rPr lang="en-US" sz="1300" i="1" dirty="0">
                <a:solidFill>
                  <a:srgbClr val="7C8D93"/>
                </a:solidFill>
                <a:latin typeface="Calibri" pitchFamily="34" charset="0"/>
                <a:ea typeface="Calibri" pitchFamily="34" charset="-122"/>
                <a:cs typeface="Calibri" pitchFamily="34" charset="-120"/>
              </a:rPr>
              <a:t>Usa los filtros de arriba para no perderte entre 236 filas.</a:t>
            </a:r>
            <a:endParaRPr lang="en-US" sz="1300" dirty="0"/>
          </a:p>
        </p:txBody>
      </p:sp>
      <p:sp>
        <p:nvSpPr>
          <p:cNvPr id="16" name="Shape 14"/>
          <p:cNvSpPr/>
          <p:nvPr/>
        </p:nvSpPr>
        <p:spPr>
          <a:xfrm>
            <a:off x="6949440" y="1783080"/>
            <a:ext cx="4572000" cy="3931920"/>
          </a:xfrm>
          <a:prstGeom prst="roundRect">
            <a:avLst>
              <a:gd name="adj" fmla="val 1860"/>
            </a:avLst>
          </a:prstGeom>
          <a:solidFill>
            <a:srgbClr val="E3EFE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7" name="Text 15"/>
          <p:cNvSpPr/>
          <p:nvPr/>
        </p:nvSpPr>
        <p:spPr>
          <a:xfrm>
            <a:off x="7269480" y="2011680"/>
            <a:ext cx="3931920" cy="365760"/>
          </a:xfrm>
          <a:prstGeom prst="rect">
            <a:avLst/>
          </a:prstGeom>
          <a:noFill/>
          <a:ln/>
        </p:spPr>
        <p:txBody>
          <a:bodyPr wrap="square" rtlCol="0" anchor="ctr"/>
          <a:lstStyle/>
          <a:p>
            <a:pPr indent="0" marL="0">
              <a:buNone/>
            </a:pPr>
            <a:r>
              <a:rPr lang="en-US" sz="1900" b="1" dirty="0">
                <a:solidFill>
                  <a:srgbClr val="0B4A4E"/>
                </a:solidFill>
                <a:latin typeface="Cambria" pitchFamily="34" charset="0"/>
                <a:ea typeface="Cambria" pitchFamily="34" charset="-122"/>
                <a:cs typeface="Cambria" pitchFamily="34" charset="-120"/>
              </a:rPr>
              <a:t>Y abajo, el cálculo en palabras</a:t>
            </a:r>
            <a:endParaRPr lang="en-US" sz="1900" dirty="0"/>
          </a:p>
        </p:txBody>
      </p:sp>
      <p:sp>
        <p:nvSpPr>
          <p:cNvPr id="18" name="Text 16"/>
          <p:cNvSpPr/>
          <p:nvPr/>
        </p:nvSpPr>
        <p:spPr>
          <a:xfrm>
            <a:off x="7269480" y="2468880"/>
            <a:ext cx="3931920" cy="274320"/>
          </a:xfrm>
          <a:prstGeom prst="rect">
            <a:avLst/>
          </a:prstGeom>
          <a:noFill/>
          <a:ln/>
        </p:spPr>
        <p:txBody>
          <a:bodyPr wrap="square" rtlCol="0" anchor="ctr"/>
          <a:lstStyle/>
          <a:p>
            <a:pPr indent="0" marL="0">
              <a:buNone/>
            </a:pPr>
            <a:r>
              <a:rPr lang="en-US" sz="1300" dirty="0">
                <a:solidFill>
                  <a:srgbClr val="4A5D64"/>
                </a:solidFill>
                <a:latin typeface="Calibri" pitchFamily="34" charset="0"/>
                <a:ea typeface="Calibri" pitchFamily="34" charset="-122"/>
                <a:cs typeface="Calibri" pitchFamily="34" charset="-120"/>
              </a:rPr>
              <a:t>Nada queda escondido:</a:t>
            </a:r>
            <a:endParaRPr lang="en-US" sz="1300" dirty="0"/>
          </a:p>
        </p:txBody>
      </p:sp>
      <p:sp>
        <p:nvSpPr>
          <p:cNvPr id="19" name="Shape 17"/>
          <p:cNvSpPr/>
          <p:nvPr/>
        </p:nvSpPr>
        <p:spPr>
          <a:xfrm>
            <a:off x="7269480" y="2834640"/>
            <a:ext cx="3931920" cy="2377440"/>
          </a:xfrm>
          <a:prstGeom prst="roundRect">
            <a:avLst>
              <a:gd name="adj" fmla="val 2308"/>
            </a:avLst>
          </a:prstGeom>
          <a:solidFill>
            <a:srgbClr val="FFFFFF"/>
          </a:solidFill>
          <a:ln w="12700">
            <a:solidFill>
              <a:srgbClr val="0E5F63"/>
            </a:solidFill>
            <a:prstDash val="solid"/>
          </a:ln>
        </p:spPr>
      </p:sp>
      <p:sp>
        <p:nvSpPr>
          <p:cNvPr id="20" name="Text 18"/>
          <p:cNvSpPr/>
          <p:nvPr/>
        </p:nvSpPr>
        <p:spPr>
          <a:xfrm>
            <a:off x="7452360" y="3017520"/>
            <a:ext cx="3566160" cy="2011680"/>
          </a:xfrm>
          <a:prstGeom prst="rect">
            <a:avLst/>
          </a:prstGeom>
          <a:noFill/>
          <a:ln/>
        </p:spPr>
        <p:txBody>
          <a:bodyPr wrap="square" rtlCol="0" anchor="ctr"/>
          <a:lstStyle/>
          <a:p>
            <a:pPr indent="0" marL="0">
              <a:buNone/>
            </a:pPr>
            <a:r>
              <a:rPr lang="en-US" sz="1250" dirty="0">
                <a:solidFill>
                  <a:srgbClr val="16262C"/>
                </a:solidFill>
                <a:latin typeface="Courier New" pitchFamily="34" charset="0"/>
                <a:ea typeface="Courier New" pitchFamily="34" charset="-122"/>
                <a:cs typeface="Courier New" pitchFamily="34" charset="-120"/>
              </a:rPr>
              <a:t>Población objetivo = 1.357
</a:t>
            </a:r>
            <a:pPr indent="0" marL="0">
              <a:buNone/>
            </a:pPr>
            <a:r>
              <a:rPr lang="en-US" sz="1100" dirty="0">
                <a:solidFill>
                  <a:srgbClr val="7C8D93"/>
                </a:solidFill>
                <a:latin typeface="Courier New" pitchFamily="34" charset="0"/>
                <a:ea typeface="Courier New" pitchFamily="34" charset="-122"/>
                <a:cs typeface="Courier New" pitchFamily="34" charset="-120"/>
              </a:rPr>
              <a:t>(per cápita, mujeres de 45 a 64 años)
</a:t>
            </a:r>
            <a:pPr indent="0" marL="0">
              <a:buNone/>
            </a:pPr>
            <a:r>
              <a:rPr lang="en-US" sz="1250" dirty="0">
                <a:solidFill>
                  <a:srgbClr val="16262C"/>
                </a:solidFill>
                <a:latin typeface="Courier New" pitchFamily="34" charset="0"/>
                <a:ea typeface="Courier New" pitchFamily="34" charset="-122"/>
                <a:cs typeface="Courier New" pitchFamily="34" charset="-120"/>
              </a:rPr>
              <a:t>Total a trabajar =
</a:t>
            </a:r>
            <a:pPr indent="0" marL="0">
              <a:buNone/>
            </a:pPr>
            <a:r>
              <a:rPr lang="en-US" sz="1250" b="1" dirty="0">
                <a:solidFill>
                  <a:srgbClr val="0E5F63"/>
                </a:solidFill>
                <a:latin typeface="Courier New" pitchFamily="34" charset="0"/>
                <a:ea typeface="Courier New" pitchFamily="34" charset="-122"/>
                <a:cs typeface="Courier New" pitchFamily="34" charset="-120"/>
              </a:rPr>
              <a:t>1.357 × 1,15 × 1,0 = 1.561
</a:t>
            </a:r>
            <a:pPr indent="0" marL="0">
              <a:buNone/>
            </a:pPr>
            <a:r>
              <a:rPr lang="en-US" sz="1100" dirty="0">
                <a:solidFill>
                  <a:srgbClr val="7C8D93"/>
                </a:solidFill>
                <a:latin typeface="Courier New" pitchFamily="34" charset="0"/>
                <a:ea typeface="Courier New" pitchFamily="34" charset="-122"/>
                <a:cs typeface="Courier New" pitchFamily="34" charset="-120"/>
              </a:rPr>
              <a:t>atenciones al año
</a:t>
            </a:r>
            <a:pPr indent="0" marL="0">
              <a:buNone/>
            </a:pPr>
            <a:r>
              <a:rPr lang="en-US" sz="1250" b="1" dirty="0">
                <a:solidFill>
                  <a:srgbClr val="0E5F63"/>
                </a:solidFill>
                <a:latin typeface="Courier New" pitchFamily="34" charset="0"/>
                <a:ea typeface="Courier New" pitchFamily="34" charset="-122"/>
                <a:cs typeface="Courier New" pitchFamily="34" charset="-120"/>
              </a:rPr>
              <a:t>Carga total = 12,4 h/semana</a:t>
            </a:r>
            <a:endParaRPr lang="en-US" sz="1250" dirty="0"/>
          </a:p>
        </p:txBody>
      </p:sp>
      <p:sp>
        <p:nvSpPr>
          <p:cNvPr id="21" name="Text 19"/>
          <p:cNvSpPr/>
          <p:nvPr/>
        </p:nvSpPr>
        <p:spPr>
          <a:xfrm>
            <a:off x="7269480" y="5349240"/>
            <a:ext cx="3931920" cy="274320"/>
          </a:xfrm>
          <a:prstGeom prst="rect">
            <a:avLst/>
          </a:prstGeom>
          <a:noFill/>
          <a:ln/>
        </p:spPr>
        <p:txBody>
          <a:bodyPr wrap="square" rtlCol="0" anchor="ctr"/>
          <a:lstStyle/>
          <a:p>
            <a:pPr indent="0" marL="0">
              <a:buNone/>
            </a:pPr>
            <a:r>
              <a:rPr lang="en-US" sz="1300" b="1" dirty="0">
                <a:solidFill>
                  <a:srgbClr val="0B4A4E"/>
                </a:solidFill>
                <a:latin typeface="Calibri" pitchFamily="34" charset="0"/>
                <a:ea typeface="Calibri" pitchFamily="34" charset="-122"/>
                <a:cs typeface="Calibri" pitchFamily="34" charset="-120"/>
              </a:rPr>
              <a:t>Si un número te parece raro, aquí ves de dónde salió.</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La respuesta: ¿alcanza o no alcanza?</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Módulo 07. Una barra por estamento: verde a la derecha sobra, rojo a la izquierda falta.</a:t>
            </a:r>
            <a:endParaRPr lang="en-US" sz="1500" dirty="0"/>
          </a:p>
        </p:txBody>
      </p:sp>
      <p:graphicFrame>
        <p:nvGraphicFramePr>
          <p:cNvPr id="4" name="Chart 0" descr=""/>
          <p:cNvGraphicFramePr/>
          <p:nvPr/>
        </p:nvGraphicFramePr>
        <p:xfrm>
          <a:off x="640080" y="178308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783080"/>
            <a:ext cx="3657600" cy="3931920"/>
          </a:xfrm>
          <a:prstGeom prst="roundRect">
            <a:avLst>
              <a:gd name="adj" fmla="val 2000"/>
            </a:avLst>
          </a:prstGeom>
          <a:solidFill>
            <a:srgbClr val="F9E7E5"/>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6" name="Text 3"/>
          <p:cNvSpPr/>
          <p:nvPr/>
        </p:nvSpPr>
        <p:spPr>
          <a:xfrm>
            <a:off x="8183880" y="2011680"/>
            <a:ext cx="3108960" cy="685800"/>
          </a:xfrm>
          <a:prstGeom prst="rect">
            <a:avLst/>
          </a:prstGeom>
          <a:noFill/>
          <a:ln/>
        </p:spPr>
        <p:txBody>
          <a:bodyPr wrap="square" rtlCol="0" anchor="ctr"/>
          <a:lstStyle/>
          <a:p>
            <a:pPr indent="0" marL="0">
              <a:buNone/>
            </a:pPr>
            <a:r>
              <a:rPr lang="en-US" sz="2000" b="1" dirty="0">
                <a:solidFill>
                  <a:srgbClr val="B3372F"/>
                </a:solidFill>
                <a:latin typeface="Cambria" pitchFamily="34" charset="0"/>
                <a:ea typeface="Cambria" pitchFamily="34" charset="-122"/>
                <a:cs typeface="Cambria" pitchFamily="34" charset="-120"/>
              </a:rPr>
              <a:t>Barra roja =</a:t>
            </a:r>
            <a:endParaRPr lang="en-US" sz="2000" dirty="0"/>
          </a:p>
          <a:p>
            <a:pPr indent="0" marL="0">
              <a:buNone/>
            </a:pPr>
            <a:r>
              <a:rPr lang="en-US" sz="2000" b="1" dirty="0">
                <a:solidFill>
                  <a:srgbClr val="B3372F"/>
                </a:solidFill>
                <a:latin typeface="Cambria" pitchFamily="34" charset="0"/>
                <a:ea typeface="Cambria" pitchFamily="34" charset="-122"/>
                <a:cs typeface="Cambria" pitchFamily="34" charset="-120"/>
              </a:rPr>
              <a:t>hay un problema</a:t>
            </a:r>
            <a:endParaRPr lang="en-US" sz="2000" dirty="0"/>
          </a:p>
        </p:txBody>
      </p:sp>
      <p:sp>
        <p:nvSpPr>
          <p:cNvPr id="7" name="Text 4"/>
          <p:cNvSpPr/>
          <p:nvPr/>
        </p:nvSpPr>
        <p:spPr>
          <a:xfrm>
            <a:off x="8183880" y="2788920"/>
            <a:ext cx="3108960" cy="914400"/>
          </a:xfrm>
          <a:prstGeom prst="rect">
            <a:avLst/>
          </a:prstGeom>
          <a:noFill/>
          <a:ln/>
        </p:spPr>
        <p:txBody>
          <a:bodyPr wrap="square" rtlCol="0" anchor="ctr"/>
          <a:lstStyle/>
          <a:p>
            <a:pPr indent="0" marL="0">
              <a:buNone/>
            </a:pPr>
            <a:r>
              <a:rPr lang="en-US" sz="1400" dirty="0">
                <a:solidFill>
                  <a:srgbClr val="16262C"/>
                </a:solidFill>
                <a:latin typeface="Calibri" pitchFamily="34" charset="0"/>
                <a:ea typeface="Calibri" pitchFamily="34" charset="-122"/>
                <a:cs typeface="Calibri" pitchFamily="34" charset="-120"/>
              </a:rPr>
              <a:t>Odontología necesita 12,7 horas semanales más de las que tiene. Con la dotación actual, esa cartera no se puede cumplir completa.</a:t>
            </a:r>
            <a:endParaRPr lang="en-US" sz="1400" dirty="0"/>
          </a:p>
        </p:txBody>
      </p:sp>
      <p:sp>
        <p:nvSpPr>
          <p:cNvPr id="8" name="Text 5"/>
          <p:cNvSpPr/>
          <p:nvPr/>
        </p:nvSpPr>
        <p:spPr>
          <a:xfrm>
            <a:off x="8183880" y="3749040"/>
            <a:ext cx="3108960" cy="731520"/>
          </a:xfrm>
          <a:prstGeom prst="rect">
            <a:avLst/>
          </a:prstGeom>
          <a:noFill/>
          <a:ln/>
        </p:spPr>
        <p:txBody>
          <a:bodyPr wrap="square" rtlCol="0" anchor="ctr"/>
          <a:lstStyle/>
          <a:p>
            <a:pPr indent="0" marL="0">
              <a:buNone/>
            </a:pPr>
            <a:r>
              <a:rPr lang="en-US" sz="1400" i="1" dirty="0">
                <a:solidFill>
                  <a:srgbClr val="4A5D64"/>
                </a:solidFill>
                <a:latin typeface="Calibri" pitchFamily="34" charset="0"/>
                <a:ea typeface="Calibri" pitchFamily="34" charset="-122"/>
                <a:cs typeface="Calibri" pitchFamily="34" charset="-120"/>
              </a:rPr>
              <a:t>No es una opinión ni una impresión: es aritmética, y ahora está a la vista de todos.</a:t>
            </a:r>
            <a:endParaRPr lang="en-US" sz="1400" dirty="0"/>
          </a:p>
        </p:txBody>
      </p:sp>
      <p:sp>
        <p:nvSpPr>
          <p:cNvPr id="9" name="Shape 6"/>
          <p:cNvSpPr/>
          <p:nvPr/>
        </p:nvSpPr>
        <p:spPr>
          <a:xfrm>
            <a:off x="8183880" y="4572000"/>
            <a:ext cx="3108960" cy="914400"/>
          </a:xfrm>
          <a:prstGeom prst="roundRect">
            <a:avLst>
              <a:gd name="adj" fmla="val 6000"/>
            </a:avLst>
          </a:prstGeom>
          <a:solidFill>
            <a:srgbClr val="FFFFFF"/>
          </a:solidFill>
          <a:ln/>
        </p:spPr>
      </p:sp>
      <p:sp>
        <p:nvSpPr>
          <p:cNvPr id="10" name="Text 7"/>
          <p:cNvSpPr/>
          <p:nvPr/>
        </p:nvSpPr>
        <p:spPr>
          <a:xfrm>
            <a:off x="8366760" y="4709160"/>
            <a:ext cx="2743200" cy="640080"/>
          </a:xfrm>
          <a:prstGeom prst="rect">
            <a:avLst/>
          </a:prstGeom>
          <a:noFill/>
          <a:ln/>
        </p:spPr>
        <p:txBody>
          <a:bodyPr wrap="square" rtlCol="0" anchor="ctr"/>
          <a:lstStyle/>
          <a:p>
            <a:pPr indent="0" marL="0">
              <a:buNone/>
            </a:pPr>
            <a:r>
              <a:rPr lang="en-US" sz="1300" b="1" dirty="0">
                <a:solidFill>
                  <a:srgbClr val="0B4A4E"/>
                </a:solidFill>
                <a:latin typeface="Calibri" pitchFamily="34" charset="0"/>
                <a:ea typeface="Calibri" pitchFamily="34" charset="-122"/>
                <a:cs typeface="Calibri" pitchFamily="34" charset="-120"/>
              </a:rPr>
              <a:t>Haz clic en cualquier barra y te lleva al detalle de ese estamento.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Cada uno puede ver lo suyo</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Módulo 08. La vista que responde: ¿qué me toca a mí y me alcanzan las horas?</a:t>
            </a:r>
            <a:endParaRPr lang="en-US" sz="1500" dirty="0"/>
          </a:p>
        </p:txBody>
      </p:sp>
      <p:sp>
        <p:nvSpPr>
          <p:cNvPr id="4" name="Shape 2"/>
          <p:cNvSpPr/>
          <p:nvPr/>
        </p:nvSpPr>
        <p:spPr>
          <a:xfrm>
            <a:off x="640080" y="1783080"/>
            <a:ext cx="5394960" cy="3931920"/>
          </a:xfrm>
          <a:prstGeom prst="roundRect">
            <a:avLst>
              <a:gd name="adj" fmla="val 1860"/>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Shape 3"/>
          <p:cNvSpPr/>
          <p:nvPr/>
        </p:nvSpPr>
        <p:spPr>
          <a:xfrm>
            <a:off x="960120" y="2011680"/>
            <a:ext cx="640080" cy="640080"/>
          </a:xfrm>
          <a:prstGeom prst="ellipse">
            <a:avLst/>
          </a:prstGeom>
          <a:solidFill>
            <a:srgbClr val="0E5F63"/>
          </a:solidFill>
          <a:ln/>
        </p:spPr>
      </p:sp>
      <p:sp>
        <p:nvSpPr>
          <p:cNvPr id="6" name="Text 4"/>
          <p:cNvSpPr/>
          <p:nvPr/>
        </p:nvSpPr>
        <p:spPr>
          <a:xfrm>
            <a:off x="960120" y="2011680"/>
            <a:ext cx="64008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08</a:t>
            </a:r>
            <a:endParaRPr lang="en-US" sz="1500" dirty="0"/>
          </a:p>
        </p:txBody>
      </p:sp>
      <p:sp>
        <p:nvSpPr>
          <p:cNvPr id="7" name="Text 5"/>
          <p:cNvSpPr/>
          <p:nvPr/>
        </p:nvSpPr>
        <p:spPr>
          <a:xfrm>
            <a:off x="1783080" y="2148840"/>
            <a:ext cx="4023360" cy="365760"/>
          </a:xfrm>
          <a:prstGeom prst="rect">
            <a:avLst/>
          </a:prstGeom>
          <a:noFill/>
          <a:ln/>
        </p:spPr>
        <p:txBody>
          <a:bodyPr wrap="square" rtlCol="0" anchor="ctr"/>
          <a:lstStyle/>
          <a:p>
            <a:pPr indent="0" marL="0">
              <a:buNone/>
            </a:pPr>
            <a:r>
              <a:rPr lang="en-US" sz="1900" b="1" dirty="0">
                <a:solidFill>
                  <a:srgbClr val="16262C"/>
                </a:solidFill>
                <a:latin typeface="Cambria" pitchFamily="34" charset="0"/>
                <a:ea typeface="Cambria" pitchFamily="34" charset="-122"/>
                <a:cs typeface="Cambria" pitchFamily="34" charset="-120"/>
              </a:rPr>
              <a:t>Eliges tu estamento arriba</a:t>
            </a:r>
            <a:endParaRPr lang="en-US" sz="1900" dirty="0"/>
          </a:p>
        </p:txBody>
      </p:sp>
      <p:sp>
        <p:nvSpPr>
          <p:cNvPr id="8" name="Text 6"/>
          <p:cNvSpPr/>
          <p:nvPr/>
        </p:nvSpPr>
        <p:spPr>
          <a:xfrm>
            <a:off x="960120" y="2880360"/>
            <a:ext cx="4754880" cy="1828800"/>
          </a:xfrm>
          <a:prstGeom prst="rect">
            <a:avLst/>
          </a:prstGeom>
          <a:noFill/>
          <a:ln/>
        </p:spPr>
        <p:txBody>
          <a:bodyPr wrap="square" rtlCol="0" anchor="ctr"/>
          <a:lstStyle/>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Cuántas personas tiene y cuántas horas reales</a:t>
            </a:r>
            <a:endParaRPr lang="en-US" sz="1450" dirty="0"/>
          </a:p>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Todas las prestaciones que le asignaron</a:t>
            </a:r>
            <a:endParaRPr lang="en-US" sz="1450" dirty="0"/>
          </a:p>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Cuántas horas exige cada una</a:t>
            </a:r>
            <a:endParaRPr lang="en-US" sz="1450" dirty="0"/>
          </a:p>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Si le alcanza o no</a:t>
            </a:r>
            <a:endParaRPr lang="en-US" sz="1450" dirty="0"/>
          </a:p>
          <a:p>
            <a:pPr marL="342900" indent="-342900">
              <a:spcAft>
                <a:spcPts val="1000"/>
              </a:spcAft>
              <a:buSzPct val="100000"/>
              <a:buChar char="•"/>
            </a:pPr>
            <a:r>
              <a:rPr lang="en-US" sz="1450" dirty="0">
                <a:solidFill>
                  <a:srgbClr val="16262C"/>
                </a:solidFill>
                <a:latin typeface="Calibri" pitchFamily="34" charset="0"/>
                <a:ea typeface="Calibri" pitchFamily="34" charset="-122"/>
                <a:cs typeface="Calibri" pitchFamily="34" charset="-120"/>
              </a:rPr>
              <a:t>Puedes bajar la tabla a Excel</a:t>
            </a:r>
            <a:endParaRPr lang="en-US" sz="1450" dirty="0"/>
          </a:p>
        </p:txBody>
      </p:sp>
      <p:sp>
        <p:nvSpPr>
          <p:cNvPr id="9" name="Shape 7"/>
          <p:cNvSpPr/>
          <p:nvPr/>
        </p:nvSpPr>
        <p:spPr>
          <a:xfrm>
            <a:off x="960120" y="4800600"/>
            <a:ext cx="4754880" cy="685800"/>
          </a:xfrm>
          <a:prstGeom prst="roundRect">
            <a:avLst>
              <a:gd name="adj" fmla="val 8000"/>
            </a:avLst>
          </a:prstGeom>
          <a:solidFill>
            <a:srgbClr val="E3EFEF"/>
          </a:solidFill>
          <a:ln/>
        </p:spPr>
      </p:sp>
      <p:sp>
        <p:nvSpPr>
          <p:cNvPr id="10" name="Text 8"/>
          <p:cNvSpPr/>
          <p:nvPr/>
        </p:nvSpPr>
        <p:spPr>
          <a:xfrm>
            <a:off x="1143000" y="4937760"/>
            <a:ext cx="4389120" cy="411480"/>
          </a:xfrm>
          <a:prstGeom prst="rect">
            <a:avLst/>
          </a:prstGeom>
          <a:noFill/>
          <a:ln/>
        </p:spPr>
        <p:txBody>
          <a:bodyPr wrap="square" rtlCol="0" anchor="ctr"/>
          <a:lstStyle/>
          <a:p>
            <a:pPr indent="0" marL="0">
              <a:buNone/>
            </a:pPr>
            <a:r>
              <a:rPr lang="en-US" sz="1350" b="1" dirty="0">
                <a:solidFill>
                  <a:srgbClr val="0B4A4E"/>
                </a:solidFill>
                <a:latin typeface="Calibri" pitchFamily="34" charset="0"/>
                <a:ea typeface="Calibri" pitchFamily="34" charset="-122"/>
                <a:cs typeface="Calibri" pitchFamily="34" charset="-120"/>
              </a:rPr>
              <a:t>Haz clic en cualquier prestación para corregirla al vuelo.</a:t>
            </a:r>
            <a:endParaRPr lang="en-US" sz="1350" dirty="0"/>
          </a:p>
        </p:txBody>
      </p:sp>
      <p:sp>
        <p:nvSpPr>
          <p:cNvPr id="11" name="Shape 9"/>
          <p:cNvSpPr/>
          <p:nvPr/>
        </p:nvSpPr>
        <p:spPr>
          <a:xfrm>
            <a:off x="6355080" y="1783080"/>
            <a:ext cx="5166360" cy="3931920"/>
          </a:xfrm>
          <a:prstGeom prst="roundRect">
            <a:avLst>
              <a:gd name="adj" fmla="val 1860"/>
            </a:avLst>
          </a:prstGeom>
          <a:solidFill>
            <a:srgbClr val="082F33"/>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2" name="Text 10"/>
          <p:cNvSpPr/>
          <p:nvPr/>
        </p:nvSpPr>
        <p:spPr>
          <a:xfrm>
            <a:off x="6675120" y="2011680"/>
            <a:ext cx="4480560" cy="36576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El gráfico que más sirve</a:t>
            </a:r>
            <a:endParaRPr lang="en-US" sz="2000" dirty="0"/>
          </a:p>
        </p:txBody>
      </p:sp>
      <p:sp>
        <p:nvSpPr>
          <p:cNvPr id="13" name="Text 11"/>
          <p:cNvSpPr/>
          <p:nvPr/>
        </p:nvSpPr>
        <p:spPr>
          <a:xfrm>
            <a:off x="6675120" y="2468880"/>
            <a:ext cx="4480560" cy="320040"/>
          </a:xfrm>
          <a:prstGeom prst="rect">
            <a:avLst/>
          </a:prstGeom>
          <a:noFill/>
          <a:ln/>
        </p:spPr>
        <p:txBody>
          <a:bodyPr wrap="square" rtlCol="0" anchor="ctr"/>
          <a:lstStyle/>
          <a:p>
            <a:pPr indent="0" marL="0">
              <a:buNone/>
            </a:pPr>
            <a:r>
              <a:rPr lang="en-US" sz="1400" dirty="0">
                <a:solidFill>
                  <a:srgbClr val="C7DAD8"/>
                </a:solidFill>
                <a:latin typeface="Calibri" pitchFamily="34" charset="0"/>
                <a:ea typeface="Calibri" pitchFamily="34" charset="-122"/>
                <a:cs typeface="Calibri" pitchFamily="34" charset="-120"/>
              </a:rPr>
              <a:t>Ordena tus prestaciones de mayor a menor carga.</a:t>
            </a:r>
            <a:endParaRPr lang="en-US" sz="1400" dirty="0"/>
          </a:p>
        </p:txBody>
      </p:sp>
      <p:sp>
        <p:nvSpPr>
          <p:cNvPr id="14" name="Text 12"/>
          <p:cNvSpPr/>
          <p:nvPr/>
        </p:nvSpPr>
        <p:spPr>
          <a:xfrm>
            <a:off x="6675120" y="2926080"/>
            <a:ext cx="4480560" cy="822960"/>
          </a:xfrm>
          <a:prstGeom prst="rect">
            <a:avLst/>
          </a:prstGeom>
          <a:noFill/>
          <a:ln/>
        </p:spPr>
        <p:txBody>
          <a:bodyPr wrap="square" rtlCol="0" anchor="ctr"/>
          <a:lstStyle/>
          <a:p>
            <a:pPr indent="0" marL="0">
              <a:buNone/>
            </a:pPr>
            <a:r>
              <a:rPr lang="en-US" sz="5200" b="1" dirty="0">
                <a:solidFill>
                  <a:srgbClr val="6FC2B4"/>
                </a:solidFill>
                <a:latin typeface="Cambria" pitchFamily="34" charset="0"/>
                <a:ea typeface="Cambria" pitchFamily="34" charset="-122"/>
                <a:cs typeface="Cambria" pitchFamily="34" charset="-120"/>
              </a:rPr>
              <a:t>3 o 4</a:t>
            </a:r>
            <a:endParaRPr lang="en-US" sz="5200" dirty="0"/>
          </a:p>
        </p:txBody>
      </p:sp>
      <p:sp>
        <p:nvSpPr>
          <p:cNvPr id="15" name="Text 13"/>
          <p:cNvSpPr/>
          <p:nvPr/>
        </p:nvSpPr>
        <p:spPr>
          <a:xfrm>
            <a:off x="6675120" y="3749040"/>
            <a:ext cx="4480560" cy="54864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prestaciones suelen concentrar la mitad de todo tu trabajo.</a:t>
            </a:r>
            <a:endParaRPr lang="en-US" sz="1600" dirty="0"/>
          </a:p>
        </p:txBody>
      </p:sp>
      <p:sp>
        <p:nvSpPr>
          <p:cNvPr id="16" name="Text 14"/>
          <p:cNvSpPr/>
          <p:nvPr/>
        </p:nvSpPr>
        <p:spPr>
          <a:xfrm>
            <a:off x="6675120" y="4434840"/>
            <a:ext cx="4480560" cy="731520"/>
          </a:xfrm>
          <a:prstGeom prst="rect">
            <a:avLst/>
          </a:prstGeom>
          <a:noFill/>
          <a:ln/>
        </p:spPr>
        <p:txBody>
          <a:bodyPr wrap="square" rtlCol="0" anchor="ctr"/>
          <a:lstStyle/>
          <a:p>
            <a:pPr indent="0" marL="0">
              <a:buNone/>
            </a:pPr>
            <a:r>
              <a:rPr lang="en-US" sz="1400" i="1" dirty="0">
                <a:solidFill>
                  <a:srgbClr val="8FB2AE"/>
                </a:solidFill>
                <a:latin typeface="Calibri" pitchFamily="34" charset="0"/>
                <a:ea typeface="Calibri" pitchFamily="34" charset="-122"/>
                <a:cs typeface="Calibri" pitchFamily="34" charset="-120"/>
              </a:rPr>
              <a:t>Ahí es donde vale la pena discutir cobertura y rendimiento. Discutir las de la cola es gastar reunión.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Probar sin miedo</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Módulo 09. ¿Y si contratamos otro médico? ¿Y si subimos la cobertura?</a:t>
            </a:r>
            <a:endParaRPr lang="en-US" sz="1500" dirty="0"/>
          </a:p>
        </p:txBody>
      </p:sp>
      <p:sp>
        <p:nvSpPr>
          <p:cNvPr id="4" name="Shape 2"/>
          <p:cNvSpPr/>
          <p:nvPr/>
        </p:nvSpPr>
        <p:spPr>
          <a:xfrm>
            <a:off x="640080" y="1920240"/>
            <a:ext cx="2514600" cy="2377440"/>
          </a:xfrm>
          <a:prstGeom prst="roundRect">
            <a:avLst>
              <a:gd name="adj" fmla="val 3077"/>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Shape 3"/>
          <p:cNvSpPr/>
          <p:nvPr/>
        </p:nvSpPr>
        <p:spPr>
          <a:xfrm>
            <a:off x="1609344" y="2148840"/>
            <a:ext cx="566928" cy="566928"/>
          </a:xfrm>
          <a:prstGeom prst="ellipse">
            <a:avLst/>
          </a:prstGeom>
          <a:solidFill>
            <a:srgbClr val="0E5F63"/>
          </a:solidFill>
          <a:ln/>
        </p:spPr>
      </p:sp>
      <p:sp>
        <p:nvSpPr>
          <p:cNvPr id="6" name="Text 4"/>
          <p:cNvSpPr/>
          <p:nvPr/>
        </p:nvSpPr>
        <p:spPr>
          <a:xfrm>
            <a:off x="1609344" y="2148840"/>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777240" y="2834640"/>
            <a:ext cx="2240280" cy="320040"/>
          </a:xfrm>
          <a:prstGeom prst="rect">
            <a:avLst/>
          </a:prstGeom>
          <a:noFill/>
          <a:ln/>
        </p:spPr>
        <p:txBody>
          <a:bodyPr wrap="square" rtlCol="0" anchor="ctr"/>
          <a:lstStyle/>
          <a:p>
            <a:pPr algn="ctr" indent="0" marL="0">
              <a:buNone/>
            </a:pPr>
            <a:r>
              <a:rPr lang="en-US" sz="1800" b="1" dirty="0">
                <a:solidFill>
                  <a:srgbClr val="0E5F63"/>
                </a:solidFill>
                <a:latin typeface="Cambria" pitchFamily="34" charset="0"/>
                <a:ea typeface="Cambria" pitchFamily="34" charset="-122"/>
                <a:cs typeface="Cambria" pitchFamily="34" charset="-120"/>
              </a:rPr>
              <a:t>Duplicar</a:t>
            </a:r>
            <a:endParaRPr lang="en-US" sz="1800" dirty="0"/>
          </a:p>
        </p:txBody>
      </p:sp>
      <p:sp>
        <p:nvSpPr>
          <p:cNvPr id="8" name="Text 6"/>
          <p:cNvSpPr/>
          <p:nvPr/>
        </p:nvSpPr>
        <p:spPr>
          <a:xfrm>
            <a:off x="777240" y="3200400"/>
            <a:ext cx="2240280" cy="914400"/>
          </a:xfrm>
          <a:prstGeom prst="rect">
            <a:avLst/>
          </a:prstGeom>
          <a:noFill/>
          <a:ln/>
        </p:spPr>
        <p:txBody>
          <a:bodyPr wrap="square" rtlCol="0" anchor="ctr"/>
          <a:lstStyle/>
          <a:p>
            <a:pPr algn="ctr" indent="0" marL="0">
              <a:buNone/>
            </a:pPr>
            <a:r>
              <a:rPr lang="en-US" sz="1300" dirty="0">
                <a:solidFill>
                  <a:srgbClr val="4A5D64"/>
                </a:solidFill>
                <a:latin typeface="Calibri" pitchFamily="34" charset="0"/>
                <a:ea typeface="Calibri" pitchFamily="34" charset="-122"/>
                <a:cs typeface="Calibri" pitchFamily="34" charset="-120"/>
              </a:rPr>
              <a:t>Botón «Duplicar escenario activo»</a:t>
            </a:r>
            <a:endParaRPr lang="en-US" sz="1300" dirty="0"/>
          </a:p>
        </p:txBody>
      </p:sp>
      <p:sp>
        <p:nvSpPr>
          <p:cNvPr id="9" name="Text 7"/>
          <p:cNvSpPr/>
          <p:nvPr/>
        </p:nvSpPr>
        <p:spPr>
          <a:xfrm>
            <a:off x="3154680" y="2880360"/>
            <a:ext cx="274320" cy="365760"/>
          </a:xfrm>
          <a:prstGeom prst="rect">
            <a:avLst/>
          </a:prstGeom>
          <a:noFill/>
          <a:ln/>
        </p:spPr>
        <p:txBody>
          <a:bodyPr wrap="square" rtlCol="0" anchor="ctr"/>
          <a:lstStyle/>
          <a:p>
            <a:pPr algn="ctr" indent="0" marL="0">
              <a:buNone/>
            </a:pPr>
            <a:r>
              <a:rPr lang="en-US" sz="2200" dirty="0">
                <a:solidFill>
                  <a:srgbClr val="7C8D93"/>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429000" y="1920240"/>
            <a:ext cx="2514600" cy="2377440"/>
          </a:xfrm>
          <a:prstGeom prst="roundRect">
            <a:avLst>
              <a:gd name="adj" fmla="val 3077"/>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1" name="Shape 9"/>
          <p:cNvSpPr/>
          <p:nvPr/>
        </p:nvSpPr>
        <p:spPr>
          <a:xfrm>
            <a:off x="4398264" y="2148840"/>
            <a:ext cx="566928" cy="566928"/>
          </a:xfrm>
          <a:prstGeom prst="ellipse">
            <a:avLst/>
          </a:prstGeom>
          <a:solidFill>
            <a:srgbClr val="0E5F63"/>
          </a:solidFill>
          <a:ln/>
        </p:spPr>
      </p:sp>
      <p:sp>
        <p:nvSpPr>
          <p:cNvPr id="12" name="Text 10"/>
          <p:cNvSpPr/>
          <p:nvPr/>
        </p:nvSpPr>
        <p:spPr>
          <a:xfrm>
            <a:off x="4398264" y="2148840"/>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3566160" y="2834640"/>
            <a:ext cx="2240280" cy="320040"/>
          </a:xfrm>
          <a:prstGeom prst="rect">
            <a:avLst/>
          </a:prstGeom>
          <a:noFill/>
          <a:ln/>
        </p:spPr>
        <p:txBody>
          <a:bodyPr wrap="square" rtlCol="0" anchor="ctr"/>
          <a:lstStyle/>
          <a:p>
            <a:pPr algn="ctr" indent="0" marL="0">
              <a:buNone/>
            </a:pPr>
            <a:r>
              <a:rPr lang="en-US" sz="1800" b="1" dirty="0">
                <a:solidFill>
                  <a:srgbClr val="0E5F63"/>
                </a:solidFill>
                <a:latin typeface="Cambria" pitchFamily="34" charset="0"/>
                <a:ea typeface="Cambria" pitchFamily="34" charset="-122"/>
                <a:cs typeface="Cambria" pitchFamily="34" charset="-120"/>
              </a:rPr>
              <a:t>Nombrar</a:t>
            </a:r>
            <a:endParaRPr lang="en-US" sz="1800" dirty="0"/>
          </a:p>
        </p:txBody>
      </p:sp>
      <p:sp>
        <p:nvSpPr>
          <p:cNvPr id="14" name="Text 12"/>
          <p:cNvSpPr/>
          <p:nvPr/>
        </p:nvSpPr>
        <p:spPr>
          <a:xfrm>
            <a:off x="3566160" y="3200400"/>
            <a:ext cx="2240280" cy="914400"/>
          </a:xfrm>
          <a:prstGeom prst="rect">
            <a:avLst/>
          </a:prstGeom>
          <a:noFill/>
          <a:ln/>
        </p:spPr>
        <p:txBody>
          <a:bodyPr wrap="square" rtlCol="0" anchor="ctr"/>
          <a:lstStyle/>
          <a:p>
            <a:pPr algn="ctr" indent="0" marL="0">
              <a:buNone/>
            </a:pPr>
            <a:r>
              <a:rPr lang="en-US" sz="1300" dirty="0">
                <a:solidFill>
                  <a:srgbClr val="4A5D64"/>
                </a:solidFill>
                <a:latin typeface="Calibri" pitchFamily="34" charset="0"/>
                <a:ea typeface="Calibri" pitchFamily="34" charset="-122"/>
                <a:cs typeface="Calibri" pitchFamily="34" charset="-120"/>
              </a:rPr>
              <a:t>«Con 2 médicos más»</a:t>
            </a:r>
            <a:endParaRPr lang="en-US" sz="1300" dirty="0"/>
          </a:p>
        </p:txBody>
      </p:sp>
      <p:sp>
        <p:nvSpPr>
          <p:cNvPr id="15" name="Text 13"/>
          <p:cNvSpPr/>
          <p:nvPr/>
        </p:nvSpPr>
        <p:spPr>
          <a:xfrm>
            <a:off x="5943600" y="2880360"/>
            <a:ext cx="274320" cy="365760"/>
          </a:xfrm>
          <a:prstGeom prst="rect">
            <a:avLst/>
          </a:prstGeom>
          <a:noFill/>
          <a:ln/>
        </p:spPr>
        <p:txBody>
          <a:bodyPr wrap="square" rtlCol="0" anchor="ctr"/>
          <a:lstStyle/>
          <a:p>
            <a:pPr algn="ctr" indent="0" marL="0">
              <a:buNone/>
            </a:pPr>
            <a:r>
              <a:rPr lang="en-US" sz="2200" dirty="0">
                <a:solidFill>
                  <a:srgbClr val="7C8D93"/>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217920" y="1920240"/>
            <a:ext cx="2514600" cy="2377440"/>
          </a:xfrm>
          <a:prstGeom prst="roundRect">
            <a:avLst>
              <a:gd name="adj" fmla="val 3077"/>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7" name="Shape 15"/>
          <p:cNvSpPr/>
          <p:nvPr/>
        </p:nvSpPr>
        <p:spPr>
          <a:xfrm>
            <a:off x="7187184" y="2148840"/>
            <a:ext cx="566928" cy="566928"/>
          </a:xfrm>
          <a:prstGeom prst="ellipse">
            <a:avLst/>
          </a:prstGeom>
          <a:solidFill>
            <a:srgbClr val="0E5F63"/>
          </a:solidFill>
          <a:ln/>
        </p:spPr>
      </p:sp>
      <p:sp>
        <p:nvSpPr>
          <p:cNvPr id="18" name="Text 16"/>
          <p:cNvSpPr/>
          <p:nvPr/>
        </p:nvSpPr>
        <p:spPr>
          <a:xfrm>
            <a:off x="7187184" y="2148840"/>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6355080" y="2834640"/>
            <a:ext cx="2240280" cy="320040"/>
          </a:xfrm>
          <a:prstGeom prst="rect">
            <a:avLst/>
          </a:prstGeom>
          <a:noFill/>
          <a:ln/>
        </p:spPr>
        <p:txBody>
          <a:bodyPr wrap="square" rtlCol="0" anchor="ctr"/>
          <a:lstStyle/>
          <a:p>
            <a:pPr algn="ctr" indent="0" marL="0">
              <a:buNone/>
            </a:pPr>
            <a:r>
              <a:rPr lang="en-US" sz="1800" b="1" dirty="0">
                <a:solidFill>
                  <a:srgbClr val="0E5F63"/>
                </a:solidFill>
                <a:latin typeface="Cambria" pitchFamily="34" charset="0"/>
                <a:ea typeface="Cambria" pitchFamily="34" charset="-122"/>
                <a:cs typeface="Cambria" pitchFamily="34" charset="-120"/>
              </a:rPr>
              <a:t>Cambiar</a:t>
            </a:r>
            <a:endParaRPr lang="en-US" sz="1800" dirty="0"/>
          </a:p>
        </p:txBody>
      </p:sp>
      <p:sp>
        <p:nvSpPr>
          <p:cNvPr id="20" name="Text 18"/>
          <p:cNvSpPr/>
          <p:nvPr/>
        </p:nvSpPr>
        <p:spPr>
          <a:xfrm>
            <a:off x="6355080" y="3200400"/>
            <a:ext cx="2240280" cy="914400"/>
          </a:xfrm>
          <a:prstGeom prst="rect">
            <a:avLst/>
          </a:prstGeom>
          <a:noFill/>
          <a:ln/>
        </p:spPr>
        <p:txBody>
          <a:bodyPr wrap="square" rtlCol="0" anchor="ctr"/>
          <a:lstStyle/>
          <a:p>
            <a:pPr algn="ctr" indent="0" marL="0">
              <a:buNone/>
            </a:pPr>
            <a:r>
              <a:rPr lang="en-US" sz="1300" dirty="0">
                <a:solidFill>
                  <a:srgbClr val="4A5D64"/>
                </a:solidFill>
                <a:latin typeface="Calibri" pitchFamily="34" charset="0"/>
                <a:ea typeface="Calibri" pitchFamily="34" charset="-122"/>
                <a:cs typeface="Calibri" pitchFamily="34" charset="-120"/>
              </a:rPr>
              <a:t>Modifica lo que quieras en cualquier módulo</a:t>
            </a:r>
            <a:endParaRPr lang="en-US" sz="1300" dirty="0"/>
          </a:p>
        </p:txBody>
      </p:sp>
      <p:sp>
        <p:nvSpPr>
          <p:cNvPr id="21" name="Text 19"/>
          <p:cNvSpPr/>
          <p:nvPr/>
        </p:nvSpPr>
        <p:spPr>
          <a:xfrm>
            <a:off x="8732520" y="2880360"/>
            <a:ext cx="274320" cy="365760"/>
          </a:xfrm>
          <a:prstGeom prst="rect">
            <a:avLst/>
          </a:prstGeom>
          <a:noFill/>
          <a:ln/>
        </p:spPr>
        <p:txBody>
          <a:bodyPr wrap="square" rtlCol="0" anchor="ctr"/>
          <a:lstStyle/>
          <a:p>
            <a:pPr algn="ctr" indent="0" marL="0">
              <a:buNone/>
            </a:pPr>
            <a:r>
              <a:rPr lang="en-US" sz="2200" dirty="0">
                <a:solidFill>
                  <a:srgbClr val="7C8D93"/>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006840" y="1920240"/>
            <a:ext cx="2514600" cy="2377440"/>
          </a:xfrm>
          <a:prstGeom prst="roundRect">
            <a:avLst>
              <a:gd name="adj" fmla="val 3077"/>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23" name="Shape 21"/>
          <p:cNvSpPr/>
          <p:nvPr/>
        </p:nvSpPr>
        <p:spPr>
          <a:xfrm>
            <a:off x="9976104" y="2148840"/>
            <a:ext cx="566928" cy="566928"/>
          </a:xfrm>
          <a:prstGeom prst="ellipse">
            <a:avLst/>
          </a:prstGeom>
          <a:solidFill>
            <a:srgbClr val="0E5F63"/>
          </a:solidFill>
          <a:ln/>
        </p:spPr>
      </p:sp>
      <p:sp>
        <p:nvSpPr>
          <p:cNvPr id="24" name="Text 22"/>
          <p:cNvSpPr/>
          <p:nvPr/>
        </p:nvSpPr>
        <p:spPr>
          <a:xfrm>
            <a:off x="9976104" y="2148840"/>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9144000" y="2834640"/>
            <a:ext cx="2240280" cy="320040"/>
          </a:xfrm>
          <a:prstGeom prst="rect">
            <a:avLst/>
          </a:prstGeom>
          <a:noFill/>
          <a:ln/>
        </p:spPr>
        <p:txBody>
          <a:bodyPr wrap="square" rtlCol="0" anchor="ctr"/>
          <a:lstStyle/>
          <a:p>
            <a:pPr algn="ctr" indent="0" marL="0">
              <a:buNone/>
            </a:pPr>
            <a:r>
              <a:rPr lang="en-US" sz="1800" b="1" dirty="0">
                <a:solidFill>
                  <a:srgbClr val="0E5F63"/>
                </a:solidFill>
                <a:latin typeface="Cambria" pitchFamily="34" charset="0"/>
                <a:ea typeface="Cambria" pitchFamily="34" charset="-122"/>
                <a:cs typeface="Cambria" pitchFamily="34" charset="-120"/>
              </a:rPr>
              <a:t>Comparar</a:t>
            </a:r>
            <a:endParaRPr lang="en-US" sz="1800" dirty="0"/>
          </a:p>
        </p:txBody>
      </p:sp>
      <p:sp>
        <p:nvSpPr>
          <p:cNvPr id="26" name="Text 24"/>
          <p:cNvSpPr/>
          <p:nvPr/>
        </p:nvSpPr>
        <p:spPr>
          <a:xfrm>
            <a:off x="9144000" y="3200400"/>
            <a:ext cx="2240280" cy="914400"/>
          </a:xfrm>
          <a:prstGeom prst="rect">
            <a:avLst/>
          </a:prstGeom>
          <a:noFill/>
          <a:ln/>
        </p:spPr>
        <p:txBody>
          <a:bodyPr wrap="square" rtlCol="0" anchor="ctr"/>
          <a:lstStyle/>
          <a:p>
            <a:pPr algn="ctr" indent="0" marL="0">
              <a:buNone/>
            </a:pPr>
            <a:r>
              <a:rPr lang="en-US" sz="1300" dirty="0">
                <a:solidFill>
                  <a:srgbClr val="4A5D64"/>
                </a:solidFill>
                <a:latin typeface="Calibri" pitchFamily="34" charset="0"/>
                <a:ea typeface="Calibri" pitchFamily="34" charset="-122"/>
                <a:cs typeface="Calibri" pitchFamily="34" charset="-120"/>
              </a:rPr>
              <a:t>Vuelve y los ves lado a lado</a:t>
            </a:r>
            <a:endParaRPr lang="en-US" sz="1300" dirty="0"/>
          </a:p>
        </p:txBody>
      </p:sp>
      <p:sp>
        <p:nvSpPr>
          <p:cNvPr id="27" name="Shape 25"/>
          <p:cNvSpPr/>
          <p:nvPr/>
        </p:nvSpPr>
        <p:spPr>
          <a:xfrm>
            <a:off x="640080" y="4617720"/>
            <a:ext cx="10881360" cy="1097280"/>
          </a:xfrm>
          <a:prstGeom prst="roundRect">
            <a:avLst>
              <a:gd name="adj" fmla="val 6667"/>
            </a:avLst>
          </a:prstGeom>
          <a:solidFill>
            <a:srgbClr val="E4F2EA"/>
          </a:solidFill>
          <a:ln/>
        </p:spPr>
      </p:sp>
      <p:sp>
        <p:nvSpPr>
          <p:cNvPr id="28" name="Text 26"/>
          <p:cNvSpPr/>
          <p:nvPr/>
        </p:nvSpPr>
        <p:spPr>
          <a:xfrm>
            <a:off x="914400" y="4846320"/>
            <a:ext cx="10332720" cy="640080"/>
          </a:xfrm>
          <a:prstGeom prst="rect">
            <a:avLst/>
          </a:prstGeom>
          <a:noFill/>
          <a:ln/>
        </p:spPr>
        <p:txBody>
          <a:bodyPr wrap="square" rtlCol="0" anchor="ctr"/>
          <a:lstStyle/>
          <a:p>
            <a:pPr indent="0" marL="0">
              <a:buNone/>
            </a:pPr>
            <a:r>
              <a:rPr lang="en-US" sz="1550" b="1" dirty="0">
                <a:solidFill>
                  <a:srgbClr val="1E7B4F"/>
                </a:solidFill>
                <a:latin typeface="Calibri" pitchFamily="34" charset="0"/>
                <a:ea typeface="Calibri" pitchFamily="34" charset="-122"/>
                <a:cs typeface="Calibri" pitchFamily="34" charset="-120"/>
              </a:rPr>
              <a:t>Tu escenario original queda intacto. </a:t>
            </a:r>
            <a:pPr indent="0" marL="0">
              <a:buNone/>
            </a:pPr>
            <a:r>
              <a:rPr lang="en-US" sz="1550" dirty="0">
                <a:solidFill>
                  <a:srgbClr val="16262C"/>
                </a:solidFill>
                <a:latin typeface="Calibri" pitchFamily="34" charset="0"/>
                <a:ea typeface="Calibri" pitchFamily="34" charset="-122"/>
                <a:cs typeface="Calibri" pitchFamily="34" charset="-120"/>
              </a:rPr>
              <a:t>Puedes tener todos los que quieras. Esto es lo que convierte una discusión de pasillo sobre dotación en una conversación con números.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Y al final, el informe</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Módulo 10. Un botón.</a:t>
            </a:r>
            <a:endParaRPr lang="en-US" sz="1500" dirty="0"/>
          </a:p>
        </p:txBody>
      </p:sp>
      <p:sp>
        <p:nvSpPr>
          <p:cNvPr id="4" name="Shape 2"/>
          <p:cNvSpPr/>
          <p:nvPr/>
        </p:nvSpPr>
        <p:spPr>
          <a:xfrm>
            <a:off x="640080" y="1828800"/>
            <a:ext cx="5257800" cy="3840480"/>
          </a:xfrm>
          <a:prstGeom prst="roundRect">
            <a:avLst>
              <a:gd name="adj" fmla="val 1905"/>
            </a:avLst>
          </a:prstGeom>
          <a:solidFill>
            <a:srgbClr val="E3EFE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Text 3"/>
          <p:cNvSpPr/>
          <p:nvPr/>
        </p:nvSpPr>
        <p:spPr>
          <a:xfrm>
            <a:off x="960120" y="2103120"/>
            <a:ext cx="4663440" cy="457200"/>
          </a:xfrm>
          <a:prstGeom prst="rect">
            <a:avLst/>
          </a:prstGeom>
          <a:noFill/>
          <a:ln/>
        </p:spPr>
        <p:txBody>
          <a:bodyPr wrap="square" rtlCol="0" anchor="ctr"/>
          <a:lstStyle/>
          <a:p>
            <a:pPr indent="0" marL="0">
              <a:buNone/>
            </a:pPr>
            <a:r>
              <a:rPr lang="en-US" sz="2600" b="1" dirty="0">
                <a:solidFill>
                  <a:srgbClr val="0E5F63"/>
                </a:solidFill>
                <a:latin typeface="Cambria" pitchFamily="34" charset="0"/>
                <a:ea typeface="Cambria" pitchFamily="34" charset="-122"/>
                <a:cs typeface="Cambria" pitchFamily="34" charset="-120"/>
              </a:rPr>
              <a:t>«Generar informe»</a:t>
            </a:r>
            <a:endParaRPr lang="en-US" sz="2600" dirty="0"/>
          </a:p>
        </p:txBody>
      </p:sp>
      <p:sp>
        <p:nvSpPr>
          <p:cNvPr id="6" name="Text 4"/>
          <p:cNvSpPr/>
          <p:nvPr/>
        </p:nvSpPr>
        <p:spPr>
          <a:xfrm>
            <a:off x="960120" y="2651760"/>
            <a:ext cx="4663440" cy="274320"/>
          </a:xfrm>
          <a:prstGeom prst="rect">
            <a:avLst/>
          </a:prstGeom>
          <a:noFill/>
          <a:ln/>
        </p:spPr>
        <p:txBody>
          <a:bodyPr wrap="square" rtlCol="0" anchor="ctr"/>
          <a:lstStyle/>
          <a:p>
            <a:pPr indent="0" marL="0">
              <a:buNone/>
            </a:pPr>
            <a:r>
              <a:rPr lang="en-US" sz="1400" dirty="0">
                <a:solidFill>
                  <a:srgbClr val="4A5D64"/>
                </a:solidFill>
                <a:latin typeface="Calibri" pitchFamily="34" charset="0"/>
                <a:ea typeface="Calibri" pitchFamily="34" charset="-122"/>
                <a:cs typeface="Calibri" pitchFamily="34" charset="-120"/>
              </a:rPr>
              <a:t>Un documento en lenguaje profesional, con:</a:t>
            </a:r>
            <a:endParaRPr lang="en-US" sz="1400" dirty="0"/>
          </a:p>
        </p:txBody>
      </p:sp>
      <p:sp>
        <p:nvSpPr>
          <p:cNvPr id="7" name="Text 5"/>
          <p:cNvSpPr/>
          <p:nvPr/>
        </p:nvSpPr>
        <p:spPr>
          <a:xfrm>
            <a:off x="960120" y="3063240"/>
            <a:ext cx="4663440" cy="1554480"/>
          </a:xfrm>
          <a:prstGeom prst="rect">
            <a:avLst/>
          </a:prstGeom>
          <a:noFill/>
          <a:ln/>
        </p:spPr>
        <p:txBody>
          <a:bodyPr wrap="square" rtlCol="0" anchor="ctr"/>
          <a:lstStyle/>
          <a:p>
            <a:pPr marL="342900" indent="-342900">
              <a:spcAft>
                <a:spcPts val="900"/>
              </a:spcAft>
              <a:buSzPct val="100000"/>
              <a:buChar char="•"/>
            </a:pPr>
            <a:r>
              <a:rPr lang="en-US" sz="1500" dirty="0">
                <a:solidFill>
                  <a:srgbClr val="16262C"/>
                </a:solidFill>
                <a:latin typeface="Calibri" pitchFamily="34" charset="0"/>
                <a:ea typeface="Calibri" pitchFamily="34" charset="-122"/>
                <a:cs typeface="Calibri" pitchFamily="34" charset="-120"/>
              </a:rPr>
              <a:t>los insumos que usamos</a:t>
            </a:r>
            <a:endParaRPr lang="en-US" sz="1500" dirty="0"/>
          </a:p>
          <a:p>
            <a:pPr marL="342900" indent="-342900">
              <a:spcAft>
                <a:spcPts val="900"/>
              </a:spcAft>
              <a:buSzPct val="100000"/>
              <a:buChar char="•"/>
            </a:pPr>
            <a:r>
              <a:rPr lang="en-US" sz="1500" dirty="0">
                <a:solidFill>
                  <a:srgbClr val="16262C"/>
                </a:solidFill>
                <a:latin typeface="Calibri" pitchFamily="34" charset="0"/>
                <a:ea typeface="Calibri" pitchFamily="34" charset="-122"/>
                <a:cs typeface="Calibri" pitchFamily="34" charset="-120"/>
              </a:rPr>
              <a:t>los supuestos que asumimos</a:t>
            </a:r>
            <a:endParaRPr lang="en-US" sz="1500" dirty="0"/>
          </a:p>
          <a:p>
            <a:pPr marL="342900" indent="-342900">
              <a:spcAft>
                <a:spcPts val="900"/>
              </a:spcAft>
              <a:buSzPct val="100000"/>
              <a:buChar char="•"/>
            </a:pPr>
            <a:r>
              <a:rPr lang="en-US" sz="1500" dirty="0">
                <a:solidFill>
                  <a:srgbClr val="16262C"/>
                </a:solidFill>
                <a:latin typeface="Calibri" pitchFamily="34" charset="0"/>
                <a:ea typeface="Calibri" pitchFamily="34" charset="-122"/>
                <a:cs typeface="Calibri" pitchFamily="34" charset="-120"/>
              </a:rPr>
              <a:t>los resultados y las brechas</a:t>
            </a:r>
            <a:endParaRPr lang="en-US" sz="1500" dirty="0"/>
          </a:p>
          <a:p>
            <a:pPr marL="342900" indent="-342900">
              <a:spcAft>
                <a:spcPts val="900"/>
              </a:spcAft>
              <a:buSzPct val="100000"/>
              <a:buChar char="•"/>
            </a:pPr>
            <a:r>
              <a:rPr lang="en-US" sz="1500" dirty="0">
                <a:solidFill>
                  <a:srgbClr val="16262C"/>
                </a:solidFill>
                <a:latin typeface="Calibri" pitchFamily="34" charset="0"/>
                <a:ea typeface="Calibri" pitchFamily="34" charset="-122"/>
                <a:cs typeface="Calibri" pitchFamily="34" charset="-120"/>
              </a:rPr>
              <a:t>las recomendaciones</a:t>
            </a:r>
            <a:endParaRPr lang="en-US" sz="1500" dirty="0"/>
          </a:p>
        </p:txBody>
      </p:sp>
      <p:sp>
        <p:nvSpPr>
          <p:cNvPr id="8" name="Text 6"/>
          <p:cNvSpPr/>
          <p:nvPr/>
        </p:nvSpPr>
        <p:spPr>
          <a:xfrm>
            <a:off x="960120" y="4846320"/>
            <a:ext cx="4663440" cy="640080"/>
          </a:xfrm>
          <a:prstGeom prst="rect">
            <a:avLst/>
          </a:prstGeom>
          <a:noFill/>
          <a:ln/>
        </p:spPr>
        <p:txBody>
          <a:bodyPr wrap="square" rtlCol="0" anchor="ctr"/>
          <a:lstStyle/>
          <a:p>
            <a:pPr indent="0" marL="0">
              <a:buNone/>
            </a:pPr>
            <a:r>
              <a:rPr lang="en-US" sz="1400" b="1" dirty="0">
                <a:solidFill>
                  <a:srgbClr val="0B4A4E"/>
                </a:solidFill>
                <a:latin typeface="Calibri" pitchFamily="34" charset="0"/>
                <a:ea typeface="Calibri" pitchFamily="34" charset="-122"/>
                <a:cs typeface="Calibri" pitchFamily="34" charset="-120"/>
              </a:rPr>
              <a:t>Con «Imprimir o guardar como PDF» lo llevas a una reunión o lo adjuntas a un oficio.</a:t>
            </a:r>
            <a:endParaRPr lang="en-US" sz="1400" dirty="0"/>
          </a:p>
        </p:txBody>
      </p:sp>
      <p:sp>
        <p:nvSpPr>
          <p:cNvPr id="9" name="Shape 7"/>
          <p:cNvSpPr/>
          <p:nvPr/>
        </p:nvSpPr>
        <p:spPr>
          <a:xfrm>
            <a:off x="6263640" y="1828800"/>
            <a:ext cx="5257800" cy="3840480"/>
          </a:xfrm>
          <a:prstGeom prst="roundRect">
            <a:avLst>
              <a:gd name="adj" fmla="val 1905"/>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0" name="Text 8"/>
          <p:cNvSpPr/>
          <p:nvPr/>
        </p:nvSpPr>
        <p:spPr>
          <a:xfrm>
            <a:off x="6583680" y="2103120"/>
            <a:ext cx="4663440" cy="457200"/>
          </a:xfrm>
          <a:prstGeom prst="rect">
            <a:avLst/>
          </a:prstGeom>
          <a:noFill/>
          <a:ln/>
        </p:spPr>
        <p:txBody>
          <a:bodyPr wrap="square" rtlCol="0" anchor="ctr"/>
          <a:lstStyle/>
          <a:p>
            <a:pPr indent="0" marL="0">
              <a:buNone/>
            </a:pPr>
            <a:r>
              <a:rPr lang="en-US" sz="2600" b="1" dirty="0">
                <a:solidFill>
                  <a:srgbClr val="16262C"/>
                </a:solidFill>
                <a:latin typeface="Cambria" pitchFamily="34" charset="0"/>
                <a:ea typeface="Cambria" pitchFamily="34" charset="-122"/>
                <a:cs typeface="Cambria" pitchFamily="34" charset="-120"/>
              </a:rPr>
              <a:t>Y guarda tu trabajo</a:t>
            </a:r>
            <a:endParaRPr lang="en-US" sz="2600" dirty="0"/>
          </a:p>
        </p:txBody>
      </p:sp>
      <p:sp>
        <p:nvSpPr>
          <p:cNvPr id="11" name="Text 9"/>
          <p:cNvSpPr/>
          <p:nvPr/>
        </p:nvSpPr>
        <p:spPr>
          <a:xfrm>
            <a:off x="6583680" y="2651760"/>
            <a:ext cx="4663440" cy="54864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Botón «Guardar proyecto» en el menú izquierdo. Se descarga un archivo.</a:t>
            </a:r>
            <a:endParaRPr lang="en-US" sz="1500" dirty="0"/>
          </a:p>
        </p:txBody>
      </p:sp>
      <p:sp>
        <p:nvSpPr>
          <p:cNvPr id="12" name="Text 10"/>
          <p:cNvSpPr/>
          <p:nvPr/>
        </p:nvSpPr>
        <p:spPr>
          <a:xfrm>
            <a:off x="6583680" y="3200400"/>
            <a:ext cx="4663440" cy="457200"/>
          </a:xfrm>
          <a:prstGeom prst="rect">
            <a:avLst/>
          </a:prstGeom>
          <a:noFill/>
          <a:ln/>
        </p:spPr>
        <p:txBody>
          <a:bodyPr wrap="square" rtlCol="0" anchor="ctr"/>
          <a:lstStyle/>
          <a:p>
            <a:pPr indent="0" marL="0">
              <a:buNone/>
            </a:pPr>
            <a:r>
              <a:rPr lang="en-US" sz="1500" b="1" dirty="0">
                <a:solidFill>
                  <a:srgbClr val="16262C"/>
                </a:solidFill>
                <a:latin typeface="Calibri" pitchFamily="34" charset="0"/>
                <a:ea typeface="Calibri" pitchFamily="34" charset="-122"/>
                <a:cs typeface="Calibri" pitchFamily="34" charset="-120"/>
              </a:rPr>
              <a:t>Ese archivo tiene todo: tus datos, tus escenarios, tus decisiones.</a:t>
            </a:r>
            <a:endParaRPr lang="en-US" sz="1500" dirty="0"/>
          </a:p>
        </p:txBody>
      </p:sp>
      <p:sp>
        <p:nvSpPr>
          <p:cNvPr id="13" name="Shape 11"/>
          <p:cNvSpPr/>
          <p:nvPr/>
        </p:nvSpPr>
        <p:spPr>
          <a:xfrm>
            <a:off x="6583680" y="3794760"/>
            <a:ext cx="4663440" cy="1691640"/>
          </a:xfrm>
          <a:prstGeom prst="roundRect">
            <a:avLst>
              <a:gd name="adj" fmla="val 3243"/>
            </a:avLst>
          </a:prstGeom>
          <a:solidFill>
            <a:srgbClr val="FBF1DC"/>
          </a:solidFill>
          <a:ln/>
        </p:spPr>
      </p:sp>
      <p:sp>
        <p:nvSpPr>
          <p:cNvPr id="14" name="Text 12"/>
          <p:cNvSpPr/>
          <p:nvPr/>
        </p:nvSpPr>
        <p:spPr>
          <a:xfrm>
            <a:off x="6766560" y="3977640"/>
            <a:ext cx="4297680" cy="1371600"/>
          </a:xfrm>
          <a:prstGeom prst="rect">
            <a:avLst/>
          </a:prstGeom>
          <a:noFill/>
          <a:ln/>
        </p:spPr>
        <p:txBody>
          <a:bodyPr wrap="square" rtlCol="0" anchor="ctr"/>
          <a:lstStyle/>
          <a:p>
            <a:pPr indent="0" marL="0">
              <a:buNone/>
            </a:pPr>
            <a:r>
              <a:rPr lang="en-US" sz="1350" b="1" dirty="0">
                <a:solidFill>
                  <a:srgbClr val="B47714"/>
                </a:solidFill>
                <a:latin typeface="Calibri" pitchFamily="34" charset="0"/>
                <a:ea typeface="Calibri" pitchFamily="34" charset="-122"/>
                <a:cs typeface="Calibri" pitchFamily="34" charset="-120"/>
              </a:rPr>
              <a:t>No se guarda sola, y es a propósito.
</a:t>
            </a:r>
            <a:pPr indent="0" marL="0">
              <a:buNone/>
            </a:pPr>
            <a:r>
              <a:rPr lang="en-US" sz="1350" dirty="0">
                <a:solidFill>
                  <a:srgbClr val="4A5D64"/>
                </a:solidFill>
                <a:latin typeface="Calibri" pitchFamily="34" charset="0"/>
                <a:ea typeface="Calibri" pitchFamily="34" charset="-122"/>
                <a:cs typeface="Calibri" pitchFamily="34" charset="-120"/>
              </a:rPr>
              <a:t>Tú decides qué versión conservar y con qué nombre. Así queda constancia de cada ejercicio, y se puede auditar. Nada de esto sale de tu computador.</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2F33"/>
        </a:solidFill>
      </p:bgPr>
    </p:bg>
    <p:spTree>
      <p:nvGrpSpPr>
        <p:cNvPr id="1" name=""/>
        <p:cNvGrpSpPr/>
        <p:nvPr/>
      </p:nvGrpSpPr>
      <p:grpSpPr>
        <a:xfrm>
          <a:off x="0" y="0"/>
          <a:ext cx="0" cy="0"/>
          <a:chOff x="0" y="0"/>
          <a:chExt cx="0" cy="0"/>
        </a:xfrm>
      </p:grpSpPr>
      <p:sp>
        <p:nvSpPr>
          <p:cNvPr id="2" name="Shape 0"/>
          <p:cNvSpPr/>
          <p:nvPr/>
        </p:nvSpPr>
        <p:spPr>
          <a:xfrm>
            <a:off x="-1463040" y="4023360"/>
            <a:ext cx="4206240" cy="4206240"/>
          </a:xfrm>
          <a:prstGeom prst="ellipse">
            <a:avLst/>
          </a:prstGeom>
          <a:solidFill>
            <a:srgbClr val="0B4A4E"/>
          </a:solidFill>
          <a:ln/>
        </p:spPr>
      </p:sp>
      <p:sp>
        <p:nvSpPr>
          <p:cNvPr id="3" name="Text 1"/>
          <p:cNvSpPr/>
          <p:nvPr/>
        </p:nvSpPr>
        <p:spPr>
          <a:xfrm>
            <a:off x="914400" y="1371600"/>
            <a:ext cx="10058400" cy="365760"/>
          </a:xfrm>
          <a:prstGeom prst="rect">
            <a:avLst/>
          </a:prstGeom>
          <a:noFill/>
          <a:ln/>
        </p:spPr>
        <p:txBody>
          <a:bodyPr wrap="square" rtlCol="0" anchor="ctr"/>
          <a:lstStyle/>
          <a:p>
            <a:pPr indent="0" marL="0">
              <a:buNone/>
            </a:pPr>
            <a:r>
              <a:rPr lang="en-US" sz="1700" dirty="0">
                <a:solidFill>
                  <a:srgbClr val="8FB2AE"/>
                </a:solidFill>
                <a:latin typeface="Calibri" pitchFamily="34" charset="0"/>
                <a:ea typeface="Calibri" pitchFamily="34" charset="-122"/>
                <a:cs typeface="Calibri" pitchFamily="34" charset="-120"/>
              </a:rPr>
              <a:t>Lo único que hay que entender</a:t>
            </a:r>
            <a:endParaRPr lang="en-US" sz="1700" dirty="0"/>
          </a:p>
        </p:txBody>
      </p:sp>
      <p:sp>
        <p:nvSpPr>
          <p:cNvPr id="4" name="Text 2"/>
          <p:cNvSpPr/>
          <p:nvPr/>
        </p:nvSpPr>
        <p:spPr>
          <a:xfrm>
            <a:off x="914400" y="1874520"/>
            <a:ext cx="10332720" cy="82296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Programar es decidir.</a:t>
            </a:r>
            <a:endParaRPr lang="en-US" sz="4400" dirty="0"/>
          </a:p>
        </p:txBody>
      </p:sp>
      <p:sp>
        <p:nvSpPr>
          <p:cNvPr id="5" name="Text 3"/>
          <p:cNvSpPr/>
          <p:nvPr/>
        </p:nvSpPr>
        <p:spPr>
          <a:xfrm>
            <a:off x="914400" y="2697480"/>
            <a:ext cx="10332720" cy="822960"/>
          </a:xfrm>
          <a:prstGeom prst="rect">
            <a:avLst/>
          </a:prstGeom>
          <a:noFill/>
          <a:ln/>
        </p:spPr>
        <p:txBody>
          <a:bodyPr wrap="square" rtlCol="0" anchor="ctr"/>
          <a:lstStyle/>
          <a:p>
            <a:pPr indent="0" marL="0">
              <a:buNone/>
            </a:pPr>
            <a:r>
              <a:rPr lang="en-US" sz="4400" b="1" dirty="0">
                <a:solidFill>
                  <a:srgbClr val="6FC2B4"/>
                </a:solidFill>
                <a:latin typeface="Cambria" pitchFamily="34" charset="0"/>
                <a:ea typeface="Cambria" pitchFamily="34" charset="-122"/>
                <a:cs typeface="Cambria" pitchFamily="34" charset="-120"/>
              </a:rPr>
              <a:t>Y las decisiones tienen aritmética.</a:t>
            </a:r>
            <a:endParaRPr lang="en-US" sz="4400" dirty="0"/>
          </a:p>
        </p:txBody>
      </p:sp>
      <p:sp>
        <p:nvSpPr>
          <p:cNvPr id="6" name="Text 4"/>
          <p:cNvSpPr/>
          <p:nvPr/>
        </p:nvSpPr>
        <p:spPr>
          <a:xfrm>
            <a:off x="914400" y="3886200"/>
            <a:ext cx="8961120" cy="914400"/>
          </a:xfrm>
          <a:prstGeom prst="rect">
            <a:avLst/>
          </a:prstGeom>
          <a:noFill/>
          <a:ln/>
        </p:spPr>
        <p:txBody>
          <a:bodyPr wrap="square" rtlCol="0" anchor="ctr"/>
          <a:lstStyle/>
          <a:p>
            <a:pPr indent="0" marL="0">
              <a:buNone/>
            </a:pPr>
            <a:r>
              <a:rPr lang="en-US" sz="1700" dirty="0">
                <a:solidFill>
                  <a:srgbClr val="C7DAD8"/>
                </a:solidFill>
                <a:latin typeface="Calibri" pitchFamily="34" charset="0"/>
                <a:ea typeface="Calibri" pitchFamily="34" charset="-122"/>
                <a:cs typeface="Calibri" pitchFamily="34" charset="-120"/>
              </a:rPr>
              <a:t>Cambiar una cobertura de 1,0 a 0,8 no es mover un número en una planilla: es decidir a cuánta gente vamos a llegar. La herramienta no toma esa decisión. Solo muestra, al instante, lo que cuesta.</a:t>
            </a:r>
            <a:endParaRPr lang="en-US" sz="1700" dirty="0"/>
          </a:p>
        </p:txBody>
      </p:sp>
      <p:sp>
        <p:nvSpPr>
          <p:cNvPr id="7" name="Text 5"/>
          <p:cNvSpPr/>
          <p:nvPr/>
        </p:nvSpPr>
        <p:spPr>
          <a:xfrm>
            <a:off x="914400" y="5074920"/>
            <a:ext cx="8961120" cy="457200"/>
          </a:xfrm>
          <a:prstGeom prst="rect">
            <a:avLst/>
          </a:prstGeom>
          <a:noFill/>
          <a:ln/>
        </p:spPr>
        <p:txBody>
          <a:bodyPr wrap="square" rtlCol="0" anchor="ctr"/>
          <a:lstStyle/>
          <a:p>
            <a:pPr indent="0" marL="0">
              <a:buNone/>
            </a:pPr>
            <a:r>
              <a:rPr lang="en-US" sz="1700" b="1" i="1" dirty="0">
                <a:solidFill>
                  <a:srgbClr val="FFFFFF"/>
                </a:solidFill>
                <a:latin typeface="Calibri" pitchFamily="34" charset="0"/>
                <a:ea typeface="Calibri" pitchFamily="34" charset="-122"/>
                <a:cs typeface="Calibri" pitchFamily="34" charset="-120"/>
              </a:rPr>
              <a:t>La app no reemplaza el criterio técnico del equipo. Lo hace visible, y por eso discutible.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16262C"/>
                </a:solidFill>
                <a:latin typeface="Cambria" pitchFamily="34" charset="0"/>
                <a:ea typeface="Cambria" pitchFamily="34" charset="-122"/>
                <a:cs typeface="Cambria" pitchFamily="34" charset="-120"/>
              </a:rPr>
              <a:t>Lo que todavía nos falta</a:t>
            </a:r>
            <a:endParaRPr lang="en-US" sz="3600" dirty="0"/>
          </a:p>
        </p:txBody>
      </p:sp>
      <p:sp>
        <p:nvSpPr>
          <p:cNvPr id="3" name="Text 1"/>
          <p:cNvSpPr/>
          <p:nvPr/>
        </p:nvSpPr>
        <p:spPr>
          <a:xfrm>
            <a:off x="640080" y="1078992"/>
            <a:ext cx="10881360" cy="365760"/>
          </a:xfrm>
          <a:prstGeom prst="rect">
            <a:avLst/>
          </a:prstGeom>
          <a:noFill/>
          <a:ln/>
        </p:spPr>
        <p:txBody>
          <a:bodyPr wrap="square" rtlCol="0" anchor="ctr"/>
          <a:lstStyle/>
          <a:p>
            <a:pPr indent="0" marL="0">
              <a:buNone/>
            </a:pPr>
            <a:r>
              <a:rPr lang="en-US" sz="1500" dirty="0">
                <a:solidFill>
                  <a:srgbClr val="4A5D64"/>
                </a:solidFill>
                <a:latin typeface="Calibri" pitchFamily="34" charset="0"/>
                <a:ea typeface="Calibri" pitchFamily="34" charset="-122"/>
                <a:cs typeface="Calibri" pitchFamily="34" charset="-120"/>
              </a:rPr>
              <a:t>Decirlo nosotros antes de que lo descubra otro.</a:t>
            </a:r>
            <a:endParaRPr lang="en-US" sz="1500" dirty="0"/>
          </a:p>
        </p:txBody>
      </p:sp>
      <p:sp>
        <p:nvSpPr>
          <p:cNvPr id="4" name="Shape 2"/>
          <p:cNvSpPr/>
          <p:nvPr/>
        </p:nvSpPr>
        <p:spPr>
          <a:xfrm>
            <a:off x="640080" y="1828800"/>
            <a:ext cx="5257800" cy="1737360"/>
          </a:xfrm>
          <a:prstGeom prst="roundRect">
            <a:avLst>
              <a:gd name="adj" fmla="val 4211"/>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5" name="Shape 3"/>
          <p:cNvSpPr/>
          <p:nvPr/>
        </p:nvSpPr>
        <p:spPr>
          <a:xfrm>
            <a:off x="960120" y="2148840"/>
            <a:ext cx="274320" cy="274320"/>
          </a:xfrm>
          <a:prstGeom prst="ellipse">
            <a:avLst/>
          </a:prstGeom>
          <a:solidFill>
            <a:srgbClr val="B3372F"/>
          </a:solidFill>
          <a:ln/>
        </p:spPr>
      </p:sp>
      <p:sp>
        <p:nvSpPr>
          <p:cNvPr id="6" name="Text 4"/>
          <p:cNvSpPr/>
          <p:nvPr/>
        </p:nvSpPr>
        <p:spPr>
          <a:xfrm>
            <a:off x="1417320" y="2103120"/>
            <a:ext cx="4206240" cy="365760"/>
          </a:xfrm>
          <a:prstGeom prst="rect">
            <a:avLst/>
          </a:prstGeom>
          <a:noFill/>
          <a:ln/>
        </p:spPr>
        <p:txBody>
          <a:bodyPr wrap="square" lIns="0" tIns="0" rIns="0" bIns="0" rtlCol="0" anchor="ctr"/>
          <a:lstStyle/>
          <a:p>
            <a:pPr indent="0" marL="0">
              <a:buNone/>
            </a:pPr>
            <a:r>
              <a:rPr lang="en-US" sz="1900" b="1" dirty="0">
                <a:solidFill>
                  <a:srgbClr val="B3372F"/>
                </a:solidFill>
                <a:latin typeface="Cambria" pitchFamily="34" charset="0"/>
                <a:ea typeface="Cambria" pitchFamily="34" charset="-122"/>
                <a:cs typeface="Cambria" pitchFamily="34" charset="-120"/>
              </a:rPr>
              <a:t>Los box</a:t>
            </a:r>
            <a:endParaRPr lang="en-US" sz="1900" dirty="0"/>
          </a:p>
        </p:txBody>
      </p:sp>
      <p:sp>
        <p:nvSpPr>
          <p:cNvPr id="7" name="Text 5"/>
          <p:cNvSpPr/>
          <p:nvPr/>
        </p:nvSpPr>
        <p:spPr>
          <a:xfrm>
            <a:off x="1417320" y="2542032"/>
            <a:ext cx="4206240" cy="868680"/>
          </a:xfrm>
          <a:prstGeom prst="rect">
            <a:avLst/>
          </a:prstGeom>
          <a:noFill/>
          <a:ln/>
        </p:spPr>
        <p:txBody>
          <a:bodyPr wrap="square" lIns="0" tIns="0" rIns="0" bIns="0" rtlCol="0" anchor="ctr"/>
          <a:lstStyle/>
          <a:p>
            <a:pPr indent="0" marL="0">
              <a:buNone/>
            </a:pPr>
            <a:r>
              <a:rPr lang="en-US" sz="1400" dirty="0">
                <a:solidFill>
                  <a:srgbClr val="4A5D64"/>
                </a:solidFill>
                <a:latin typeface="Calibri" pitchFamily="34" charset="0"/>
                <a:ea typeface="Calibri" pitchFamily="34" charset="-122"/>
                <a:cs typeface="Calibri" pitchFamily="34" charset="-120"/>
              </a:rPr>
              <a:t>Las salas y sus horarios son un supuesto mío. Hay que levantar el dato real de nuestro centro.</a:t>
            </a:r>
            <a:endParaRPr lang="en-US" sz="1400" dirty="0"/>
          </a:p>
        </p:txBody>
      </p:sp>
      <p:sp>
        <p:nvSpPr>
          <p:cNvPr id="8" name="Shape 6"/>
          <p:cNvSpPr/>
          <p:nvPr/>
        </p:nvSpPr>
        <p:spPr>
          <a:xfrm>
            <a:off x="6263640" y="1828800"/>
            <a:ext cx="5257800" cy="1737360"/>
          </a:xfrm>
          <a:prstGeom prst="roundRect">
            <a:avLst>
              <a:gd name="adj" fmla="val 4211"/>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9" name="Shape 7"/>
          <p:cNvSpPr/>
          <p:nvPr/>
        </p:nvSpPr>
        <p:spPr>
          <a:xfrm>
            <a:off x="6583680" y="2148840"/>
            <a:ext cx="274320" cy="274320"/>
          </a:xfrm>
          <a:prstGeom prst="ellipse">
            <a:avLst/>
          </a:prstGeom>
          <a:solidFill>
            <a:srgbClr val="B47714"/>
          </a:solidFill>
          <a:ln/>
        </p:spPr>
      </p:sp>
      <p:sp>
        <p:nvSpPr>
          <p:cNvPr id="10" name="Text 8"/>
          <p:cNvSpPr/>
          <p:nvPr/>
        </p:nvSpPr>
        <p:spPr>
          <a:xfrm>
            <a:off x="7040880" y="2103120"/>
            <a:ext cx="4206240" cy="365760"/>
          </a:xfrm>
          <a:prstGeom prst="rect">
            <a:avLst/>
          </a:prstGeom>
          <a:noFill/>
          <a:ln/>
        </p:spPr>
        <p:txBody>
          <a:bodyPr wrap="square" lIns="0" tIns="0" rIns="0" bIns="0" rtlCol="0" anchor="ctr"/>
          <a:lstStyle/>
          <a:p>
            <a:pPr indent="0" marL="0">
              <a:buNone/>
            </a:pPr>
            <a:r>
              <a:rPr lang="en-US" sz="1900" b="1" dirty="0">
                <a:solidFill>
                  <a:srgbClr val="B47714"/>
                </a:solidFill>
                <a:latin typeface="Cambria" pitchFamily="34" charset="0"/>
                <a:ea typeface="Cambria" pitchFamily="34" charset="-122"/>
                <a:cs typeface="Cambria" pitchFamily="34" charset="-120"/>
              </a:rPr>
              <a:t>El ausentismo</a:t>
            </a:r>
            <a:endParaRPr lang="en-US" sz="1900" dirty="0"/>
          </a:p>
        </p:txBody>
      </p:sp>
      <p:sp>
        <p:nvSpPr>
          <p:cNvPr id="11" name="Text 9"/>
          <p:cNvSpPr/>
          <p:nvPr/>
        </p:nvSpPr>
        <p:spPr>
          <a:xfrm>
            <a:off x="7040880" y="2542032"/>
            <a:ext cx="4206240" cy="868680"/>
          </a:xfrm>
          <a:prstGeom prst="rect">
            <a:avLst/>
          </a:prstGeom>
          <a:noFill/>
          <a:ln/>
        </p:spPr>
        <p:txBody>
          <a:bodyPr wrap="square" lIns="0" tIns="0" rIns="0" bIns="0" rtlCol="0" anchor="ctr"/>
          <a:lstStyle/>
          <a:p>
            <a:pPr indent="0" marL="0">
              <a:buNone/>
            </a:pPr>
            <a:r>
              <a:rPr lang="en-US" sz="1400" dirty="0">
                <a:solidFill>
                  <a:srgbClr val="4A5D64"/>
                </a:solidFill>
                <a:latin typeface="Calibri" pitchFamily="34" charset="0"/>
                <a:ea typeface="Calibri" pitchFamily="34" charset="-122"/>
                <a:cs typeface="Calibri" pitchFamily="34" charset="-120"/>
              </a:rPr>
              <a:t>El 8 % es un valor genérico. Podemos calcularlo con nuestras licencias reales.</a:t>
            </a:r>
            <a:endParaRPr lang="en-US" sz="1400" dirty="0"/>
          </a:p>
        </p:txBody>
      </p:sp>
      <p:sp>
        <p:nvSpPr>
          <p:cNvPr id="12" name="Shape 10"/>
          <p:cNvSpPr/>
          <p:nvPr/>
        </p:nvSpPr>
        <p:spPr>
          <a:xfrm>
            <a:off x="640080" y="3840480"/>
            <a:ext cx="5257800" cy="1737360"/>
          </a:xfrm>
          <a:prstGeom prst="roundRect">
            <a:avLst>
              <a:gd name="adj" fmla="val 4211"/>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3" name="Shape 11"/>
          <p:cNvSpPr/>
          <p:nvPr/>
        </p:nvSpPr>
        <p:spPr>
          <a:xfrm>
            <a:off x="960120" y="4160520"/>
            <a:ext cx="274320" cy="274320"/>
          </a:xfrm>
          <a:prstGeom prst="ellipse">
            <a:avLst/>
          </a:prstGeom>
          <a:solidFill>
            <a:srgbClr val="B47714"/>
          </a:solidFill>
          <a:ln/>
        </p:spPr>
      </p:sp>
      <p:sp>
        <p:nvSpPr>
          <p:cNvPr id="14" name="Text 12"/>
          <p:cNvSpPr/>
          <p:nvPr/>
        </p:nvSpPr>
        <p:spPr>
          <a:xfrm>
            <a:off x="1417320" y="4114800"/>
            <a:ext cx="4206240" cy="365760"/>
          </a:xfrm>
          <a:prstGeom prst="rect">
            <a:avLst/>
          </a:prstGeom>
          <a:noFill/>
          <a:ln/>
        </p:spPr>
        <p:txBody>
          <a:bodyPr wrap="square" lIns="0" tIns="0" rIns="0" bIns="0" rtlCol="0" anchor="ctr"/>
          <a:lstStyle/>
          <a:p>
            <a:pPr indent="0" marL="0">
              <a:buNone/>
            </a:pPr>
            <a:r>
              <a:rPr lang="en-US" sz="1900" b="1" dirty="0">
                <a:solidFill>
                  <a:srgbClr val="B47714"/>
                </a:solidFill>
                <a:latin typeface="Cambria" pitchFamily="34" charset="0"/>
                <a:ea typeface="Cambria" pitchFamily="34" charset="-122"/>
                <a:cs typeface="Cambria" pitchFamily="34" charset="-120"/>
              </a:rPr>
              <a:t>Las coberturas</a:t>
            </a:r>
            <a:endParaRPr lang="en-US" sz="1900" dirty="0"/>
          </a:p>
        </p:txBody>
      </p:sp>
      <p:sp>
        <p:nvSpPr>
          <p:cNvPr id="15" name="Text 13"/>
          <p:cNvSpPr/>
          <p:nvPr/>
        </p:nvSpPr>
        <p:spPr>
          <a:xfrm>
            <a:off x="1417320" y="4553712"/>
            <a:ext cx="4206240" cy="868680"/>
          </a:xfrm>
          <a:prstGeom prst="rect">
            <a:avLst/>
          </a:prstGeom>
          <a:noFill/>
          <a:ln/>
        </p:spPr>
        <p:txBody>
          <a:bodyPr wrap="square" lIns="0" tIns="0" rIns="0" bIns="0" rtlCol="0" anchor="ctr"/>
          <a:lstStyle/>
          <a:p>
            <a:pPr indent="0" marL="0">
              <a:buNone/>
            </a:pPr>
            <a:r>
              <a:rPr lang="en-US" sz="1400" dirty="0">
                <a:solidFill>
                  <a:srgbClr val="4A5D64"/>
                </a:solidFill>
                <a:latin typeface="Calibri" pitchFamily="34" charset="0"/>
                <a:ea typeface="Calibri" pitchFamily="34" charset="-122"/>
                <a:cs typeface="Calibri" pitchFamily="34" charset="-120"/>
              </a:rPr>
              <a:t>Vienen del ejercicio 2023. Hay que contrastarlas con las Orientaciones del año que programamos.</a:t>
            </a:r>
            <a:endParaRPr lang="en-US" sz="1400" dirty="0"/>
          </a:p>
        </p:txBody>
      </p:sp>
      <p:sp>
        <p:nvSpPr>
          <p:cNvPr id="16" name="Shape 14"/>
          <p:cNvSpPr/>
          <p:nvPr/>
        </p:nvSpPr>
        <p:spPr>
          <a:xfrm>
            <a:off x="6263640" y="3840480"/>
            <a:ext cx="5257800" cy="1737360"/>
          </a:xfrm>
          <a:prstGeom prst="roundRect">
            <a:avLst>
              <a:gd name="adj" fmla="val 4211"/>
            </a:avLst>
          </a:prstGeom>
          <a:solidFill>
            <a:srgbClr val="FFFFFF"/>
          </a:solidFill>
          <a:ln w="12700">
            <a:solidFill>
              <a:srgbClr val="DCE4E6"/>
            </a:solidFill>
            <a:prstDash val="solid"/>
          </a:ln>
          <a:effectLst>
            <a:outerShdw sx="100000" sy="100000" kx="0" ky="0" algn="bl" rotWithShape="0" blurRad="101600" dist="25400" dir="5400000">
              <a:srgbClr val="16262C">
                <a:alpha val="7000"/>
              </a:srgbClr>
            </a:outerShdw>
          </a:effectLst>
        </p:spPr>
      </p:sp>
      <p:sp>
        <p:nvSpPr>
          <p:cNvPr id="17" name="Shape 15"/>
          <p:cNvSpPr/>
          <p:nvPr/>
        </p:nvSpPr>
        <p:spPr>
          <a:xfrm>
            <a:off x="6583680" y="4160520"/>
            <a:ext cx="274320" cy="274320"/>
          </a:xfrm>
          <a:prstGeom prst="ellipse">
            <a:avLst/>
          </a:prstGeom>
          <a:solidFill>
            <a:srgbClr val="0E5F63"/>
          </a:solidFill>
          <a:ln/>
        </p:spPr>
      </p:sp>
      <p:sp>
        <p:nvSpPr>
          <p:cNvPr id="18" name="Text 16"/>
          <p:cNvSpPr/>
          <p:nvPr/>
        </p:nvSpPr>
        <p:spPr>
          <a:xfrm>
            <a:off x="7040880" y="4114800"/>
            <a:ext cx="4206240" cy="365760"/>
          </a:xfrm>
          <a:prstGeom prst="rect">
            <a:avLst/>
          </a:prstGeom>
          <a:noFill/>
          <a:ln/>
        </p:spPr>
        <p:txBody>
          <a:bodyPr wrap="square" lIns="0" tIns="0" rIns="0" bIns="0" rtlCol="0" anchor="ctr"/>
          <a:lstStyle/>
          <a:p>
            <a:pPr indent="0" marL="0">
              <a:buNone/>
            </a:pPr>
            <a:r>
              <a:rPr lang="en-US" sz="1900" b="1" dirty="0">
                <a:solidFill>
                  <a:srgbClr val="0E5F63"/>
                </a:solidFill>
                <a:latin typeface="Cambria" pitchFamily="34" charset="0"/>
                <a:ea typeface="Cambria" pitchFamily="34" charset="-122"/>
                <a:cs typeface="Cambria" pitchFamily="34" charset="-120"/>
              </a:rPr>
              <a:t>El REM propio</a:t>
            </a:r>
            <a:endParaRPr lang="en-US" sz="1900" dirty="0"/>
          </a:p>
        </p:txBody>
      </p:sp>
      <p:sp>
        <p:nvSpPr>
          <p:cNvPr id="19" name="Text 17"/>
          <p:cNvSpPr/>
          <p:nvPr/>
        </p:nvSpPr>
        <p:spPr>
          <a:xfrm>
            <a:off x="7040880" y="4553712"/>
            <a:ext cx="4206240" cy="868680"/>
          </a:xfrm>
          <a:prstGeom prst="rect">
            <a:avLst/>
          </a:prstGeom>
          <a:noFill/>
          <a:ln/>
        </p:spPr>
        <p:txBody>
          <a:bodyPr wrap="square" lIns="0" tIns="0" rIns="0" bIns="0" rtlCol="0" anchor="ctr"/>
          <a:lstStyle/>
          <a:p>
            <a:pPr indent="0" marL="0">
              <a:buNone/>
            </a:pPr>
            <a:r>
              <a:rPr lang="en-US" sz="1400" dirty="0">
                <a:solidFill>
                  <a:srgbClr val="4A5D64"/>
                </a:solidFill>
                <a:latin typeface="Calibri" pitchFamily="34" charset="0"/>
                <a:ea typeface="Calibri" pitchFamily="34" charset="-122"/>
                <a:cs typeface="Calibri" pitchFamily="34" charset="-120"/>
              </a:rPr>
              <a:t>Adaptar la cartera es transitorio. Lo definitivo es cargar nuestro propio REM, prestación por prestación.</a:t>
            </a:r>
            <a:endParaRPr lang="en-US" sz="1400" dirty="0"/>
          </a:p>
        </p:txBody>
      </p:sp>
      <p:sp>
        <p:nvSpPr>
          <p:cNvPr id="20" name="Text 18"/>
          <p:cNvSpPr/>
          <p:nvPr/>
        </p:nvSpPr>
        <p:spPr>
          <a:xfrm>
            <a:off x="640080" y="5852160"/>
            <a:ext cx="10881360" cy="457200"/>
          </a:xfrm>
          <a:prstGeom prst="rect">
            <a:avLst/>
          </a:prstGeom>
          <a:noFill/>
          <a:ln/>
        </p:spPr>
        <p:txBody>
          <a:bodyPr wrap="square" rtlCol="0" anchor="ctr"/>
          <a:lstStyle/>
          <a:p>
            <a:pPr algn="ctr" indent="0" marL="0">
              <a:buNone/>
            </a:pPr>
            <a:r>
              <a:rPr lang="en-US" sz="1400" i="1" dirty="0">
                <a:solidFill>
                  <a:srgbClr val="4A5D64"/>
                </a:solidFill>
                <a:latin typeface="Calibri" pitchFamily="34" charset="0"/>
                <a:ea typeface="Calibri" pitchFamily="34" charset="-122"/>
                <a:cs typeface="Calibri" pitchFamily="34" charset="-120"/>
              </a:rPr>
              <a:t>Ninguno de estos pendientes afecta el cálculo, que está verificado. Son datos de entrada, todos a la vista y todos editables. Que estén declarados es justamente lo que diferencia esta herramienta de la planilla que reemplaza.</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2F33"/>
        </a:solidFill>
      </p:bgPr>
    </p:bg>
    <p:spTree>
      <p:nvGrpSpPr>
        <p:cNvPr id="1" name=""/>
        <p:cNvGrpSpPr/>
        <p:nvPr/>
      </p:nvGrpSpPr>
      <p:grpSpPr>
        <a:xfrm>
          <a:off x="0" y="0"/>
          <a:ext cx="0" cy="0"/>
          <a:chOff x="0" y="0"/>
          <a:chExt cx="0" cy="0"/>
        </a:xfrm>
      </p:grpSpPr>
      <p:sp>
        <p:nvSpPr>
          <p:cNvPr id="2" name="Shape 0"/>
          <p:cNvSpPr/>
          <p:nvPr/>
        </p:nvSpPr>
        <p:spPr>
          <a:xfrm>
            <a:off x="9052560" y="3474720"/>
            <a:ext cx="4937760" cy="4937760"/>
          </a:xfrm>
          <a:prstGeom prst="ellipse">
            <a:avLst/>
          </a:prstGeom>
          <a:solidFill>
            <a:srgbClr val="0B4A4E"/>
          </a:solidFill>
          <a:ln/>
        </p:spPr>
      </p:sp>
      <p:sp>
        <p:nvSpPr>
          <p:cNvPr id="3" name="Text 1"/>
          <p:cNvSpPr/>
          <p:nvPr/>
        </p:nvSpPr>
        <p:spPr>
          <a:xfrm>
            <a:off x="914400" y="1463040"/>
            <a:ext cx="10058400" cy="365760"/>
          </a:xfrm>
          <a:prstGeom prst="rect">
            <a:avLst/>
          </a:prstGeom>
          <a:noFill/>
          <a:ln/>
        </p:spPr>
        <p:txBody>
          <a:bodyPr wrap="square" rtlCol="0" anchor="ctr"/>
          <a:lstStyle/>
          <a:p>
            <a:pPr indent="0" marL="0">
              <a:buNone/>
            </a:pPr>
            <a:r>
              <a:rPr lang="en-US" sz="1700" dirty="0">
                <a:solidFill>
                  <a:srgbClr val="8FB2AE"/>
                </a:solidFill>
                <a:latin typeface="Calibri" pitchFamily="34" charset="0"/>
                <a:ea typeface="Calibri" pitchFamily="34" charset="-122"/>
                <a:cs typeface="Calibri" pitchFamily="34" charset="-120"/>
              </a:rPr>
              <a:t>Para qué sirve todo esto</a:t>
            </a:r>
            <a:endParaRPr lang="en-US" sz="1700" dirty="0"/>
          </a:p>
        </p:txBody>
      </p:sp>
      <p:sp>
        <p:nvSpPr>
          <p:cNvPr id="4" name="Text 2"/>
          <p:cNvSpPr/>
          <p:nvPr/>
        </p:nvSpPr>
        <p:spPr>
          <a:xfrm>
            <a:off x="914400" y="1965960"/>
            <a:ext cx="8595360" cy="2377440"/>
          </a:xfrm>
          <a:prstGeom prst="rect">
            <a:avLst/>
          </a:prstGeom>
          <a:noFill/>
          <a:ln/>
        </p:spPr>
        <p:txBody>
          <a:bodyPr wrap="square" rtlCol="0" anchor="ctr"/>
          <a:lstStyle/>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Cada brecha que esta</a:t>
            </a:r>
            <a:endParaRPr lang="en-US" sz="3600" dirty="0"/>
          </a:p>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herramienta hace visible</a:t>
            </a:r>
            <a:endParaRPr lang="en-US" sz="3600" dirty="0"/>
          </a:p>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es una conversación que</a:t>
            </a:r>
            <a:endParaRPr lang="en-US" sz="3600" dirty="0"/>
          </a:p>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antes ocurría a ciegas.</a:t>
            </a:r>
            <a:endParaRPr lang="en-US" sz="3600" dirty="0"/>
          </a:p>
        </p:txBody>
      </p:sp>
      <p:sp>
        <p:nvSpPr>
          <p:cNvPr id="5" name="Text 3"/>
          <p:cNvSpPr/>
          <p:nvPr/>
        </p:nvSpPr>
        <p:spPr>
          <a:xfrm>
            <a:off x="914400" y="4572000"/>
            <a:ext cx="7863840" cy="731520"/>
          </a:xfrm>
          <a:prstGeom prst="rect">
            <a:avLst/>
          </a:prstGeom>
          <a:noFill/>
          <a:ln/>
        </p:spPr>
        <p:txBody>
          <a:bodyPr wrap="square" rtlCol="0" anchor="ctr"/>
          <a:lstStyle/>
          <a:p>
            <a:pPr indent="0" marL="0">
              <a:buNone/>
            </a:pPr>
            <a:r>
              <a:rPr lang="en-US" sz="1600" i="1" dirty="0">
                <a:solidFill>
                  <a:srgbClr val="6FC2B4"/>
                </a:solidFill>
                <a:latin typeface="Calibri" pitchFamily="34" charset="0"/>
                <a:ea typeface="Calibri" pitchFamily="34" charset="-122"/>
                <a:cs typeface="Calibri" pitchFamily="34" charset="-120"/>
              </a:rPr>
              <a:t>Programar bien no es llenar una planilla: es decidir, con horas contadas y población real, a quién alcanzamos a cuidar.</a:t>
            </a:r>
            <a:endParaRPr lang="en-US" sz="1600" dirty="0"/>
          </a:p>
        </p:txBody>
      </p:sp>
      <p:sp>
        <p:nvSpPr>
          <p:cNvPr id="6" name="Text 4"/>
          <p:cNvSpPr/>
          <p:nvPr/>
        </p:nvSpPr>
        <p:spPr>
          <a:xfrm>
            <a:off x="914400" y="5349240"/>
            <a:ext cx="7863840" cy="365760"/>
          </a:xfrm>
          <a:prstGeom prst="rect">
            <a:avLst/>
          </a:prstGeom>
          <a:noFill/>
          <a:ln/>
        </p:spPr>
        <p:txBody>
          <a:bodyPr wrap="square" rtlCol="0" anchor="ctr"/>
          <a:lstStyle/>
          <a:p>
            <a:pPr indent="0" marL="0">
              <a:buNone/>
            </a:pPr>
            <a:r>
              <a:rPr lang="en-US" sz="1600" dirty="0">
                <a:solidFill>
                  <a:srgbClr val="C7DAD8"/>
                </a:solidFill>
                <a:latin typeface="Calibri" pitchFamily="34" charset="0"/>
                <a:ea typeface="Calibri" pitchFamily="34" charset="-122"/>
                <a:cs typeface="Calibri" pitchFamily="34" charset="-120"/>
              </a:rPr>
              <a:t>Que el cálculo sea transparente es, al final, un asunto de equidad.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ProgramAPS — Cómo programar el año de nuestro CESFAM</dc:title>
  <dc:subject>PptxGenJS Presentation</dc:subject>
  <dc:creator>ProgramAPS</dc:creator>
  <cp:lastModifiedBy>ProgramAPS</cp:lastModifiedBy>
  <cp:revision>1</cp:revision>
  <dcterms:created xsi:type="dcterms:W3CDTF">2026-07-17T23:20:16Z</dcterms:created>
  <dcterms:modified xsi:type="dcterms:W3CDTF">2026-07-17T23:20:16Z</dcterms:modified>
</cp:coreProperties>
</file>